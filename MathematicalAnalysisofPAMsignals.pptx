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60" r:id="rId4"/>
  </p:sldMasterIdLst>
  <p:notesMasterIdLst>
    <p:notesMasterId r:id="rId21"/>
  </p:notesMasterIdLst>
  <p:sldIdLst>
    <p:sldId id="278" r:id="rId5"/>
    <p:sldId id="279" r:id="rId6"/>
    <p:sldId id="280" r:id="rId7"/>
    <p:sldId id="281" r:id="rId8"/>
    <p:sldId id="282" r:id="rId9"/>
    <p:sldId id="283" r:id="rId10"/>
    <p:sldId id="284" r:id="rId11"/>
    <p:sldId id="285" r:id="rId12"/>
    <p:sldId id="286" r:id="rId13"/>
    <p:sldId id="287" r:id="rId14"/>
    <p:sldId id="288" r:id="rId15"/>
    <p:sldId id="289" r:id="rId16"/>
    <p:sldId id="290" r:id="rId17"/>
    <p:sldId id="291" r:id="rId18"/>
    <p:sldId id="292" r:id="rId19"/>
    <p:sldId id="293"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99BFCEE-648A-4DDB-A60C-54E0E0EA8A31}" v="1" dt="2020-02-23T23:32:17.32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19" autoAdjust="0"/>
  </p:normalViewPr>
  <p:slideViewPr>
    <p:cSldViewPr snapToGrid="0">
      <p:cViewPr varScale="1">
        <p:scale>
          <a:sx n="78" d="100"/>
          <a:sy n="78" d="100"/>
        </p:scale>
        <p:origin x="456"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D01546-198A-4195-BCF8-F0FF54C90E5E}" type="datetimeFigureOut">
              <a:rPr lang="en-US" smtClean="0"/>
              <a:t>7/12/2020</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6DE88F-1F85-4A27-9D34-D74A50E7B0DA}" type="slidenum">
              <a:rPr lang="en-US" smtClean="0"/>
              <a:t>‹#›</a:t>
            </a:fld>
            <a:endParaRPr lang="en-US" dirty="0"/>
          </a:p>
        </p:txBody>
      </p:sp>
    </p:spTree>
    <p:extLst>
      <p:ext uri="{BB962C8B-B14F-4D97-AF65-F5344CB8AC3E}">
        <p14:creationId xmlns:p14="http://schemas.microsoft.com/office/powerpoint/2010/main" val="37300918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AEA074-24A7-4657-AE02-A51F68EA6AA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578475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77348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8D38747-4367-4BD2-8D51-C97E202738E2}" type="datetime1">
              <a:rPr lang="en-US" smtClean="0"/>
              <a:t>7/12/2020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1507467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C55A3C-5767-4844-A0A3-83778C2E5409}" type="datetime1">
              <a:rPr lang="en-US" smtClean="0"/>
              <a:t>7/12/2020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548654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763439"/>
            <a:ext cx="9590550" cy="133349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AE507A8-A5CF-4D38-AB86-7EDDA87A85D4}" type="datetime1">
              <a:rPr lang="en-US" smtClean="0"/>
              <a:t>7/12/2020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846401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126187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76450"/>
            <a:ext cx="4856841" cy="362267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0716" y="2076451"/>
            <a:ext cx="4856841" cy="3622672"/>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DFCD27C-8599-43EF-BA1D-14DDC1946E06}" type="datetime1">
              <a:rPr lang="en-US" smtClean="0"/>
              <a:t>7/12/2020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9882058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a:extLst>
              <a:ext uri="{FF2B5EF4-FFF2-40B4-BE49-F238E27FC236}">
                <a16:creationId xmlns:a16="http://schemas.microsoft.com/office/drawing/2014/main" id="{37B721FF-D609-4D98-9D19-CF75AA8A54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29200" cy="4099959"/>
          </a:xfrm>
          <a:prstGeom prst="rect">
            <a:avLst/>
          </a:prstGeom>
        </p:spPr>
      </p:pic>
      <p:pic>
        <p:nvPicPr>
          <p:cNvPr id="21" name="Picture 20" descr="Slate-V2-HD-compPhotoInset.png">
            <a:extLst>
              <a:ext uri="{FF2B5EF4-FFF2-40B4-BE49-F238E27FC236}">
                <a16:creationId xmlns:a16="http://schemas.microsoft.com/office/drawing/2014/main" id="{073936BD-C868-433F-8E84-D6DD8E640E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38357" y="1734506"/>
            <a:ext cx="5029200" cy="4099959"/>
          </a:xfrm>
          <a:prstGeom prst="rect">
            <a:avLst/>
          </a:prstGeom>
        </p:spPr>
      </p:pic>
      <p:sp>
        <p:nvSpPr>
          <p:cNvPr id="2" name="Title 1"/>
          <p:cNvSpPr>
            <a:spLocks noGrp="1"/>
          </p:cNvSpPr>
          <p:nvPr>
            <p:ph type="title"/>
          </p:nvPr>
        </p:nvSpPr>
        <p:spPr>
          <a:xfrm>
            <a:off x="913795" y="609600"/>
            <a:ext cx="10353762" cy="97045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46013" y="1855153"/>
            <a:ext cx="4764764" cy="69249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46013" y="2702103"/>
            <a:ext cx="4764764"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3166" y="1855152"/>
            <a:ext cx="4779582" cy="692495"/>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3167" y="2702103"/>
            <a:ext cx="4779581"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9343D99-809A-49C0-96E5-4250D0B498EE}" type="datetime1">
              <a:rPr lang="en-US" smtClean="0"/>
              <a:t>7/12/2020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351203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143DE9B-B678-4EFB-BB7D-A4370204A0B0}" type="datetime1">
              <a:rPr lang="en-US" smtClean="0"/>
              <a:t>7/12/2020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90940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8812DA-F765-4142-A6A3-A8ED7235E082}" type="datetime1">
              <a:rPr lang="en-US" smtClean="0"/>
              <a:t>7/12/2020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551302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8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0800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673351"/>
            <a:ext cx="3706889" cy="301625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E0277FD-7DE6-41D4-930D-AC99F5AFE54E}" type="datetime1">
              <a:rPr lang="en-US" smtClean="0"/>
              <a:t>7/12/2020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7935569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a:extLst>
              <a:ext uri="{FF2B5EF4-FFF2-40B4-BE49-F238E27FC236}">
                <a16:creationId xmlns:a16="http://schemas.microsoft.com/office/drawing/2014/main" id="{4D06E496-ACBA-4063-B4A1-C5C484EE5A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763701"/>
            <a:ext cx="5707899" cy="1675559"/>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73698" y="2679699"/>
            <a:ext cx="4588094" cy="3135695"/>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EA15526-7079-4B7B-987C-1B5FAE11A0FF}" type="datetime1">
              <a:rPr lang="en-US" smtClean="0"/>
              <a:t>7/12/2020</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30567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a:extLst>
              <a:ext uri="{FF2B5EF4-FFF2-40B4-BE49-F238E27FC236}">
                <a16:creationId xmlns:a16="http://schemas.microsoft.com/office/drawing/2014/main" id="{CE39118B-B3AD-4BD4-BA22-DEFF4E76CE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247728"/>
            <a:ext cx="10353762" cy="543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1F1B079-7EF0-44EE-B798-BCC497C9F3B2}" type="datetime1">
              <a:rPr lang="en-US" smtClean="0"/>
              <a:t>7/12/2020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095022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normAutofit/>
          </a:bodyPr>
          <a:lstStyle>
            <a:lvl1pPr>
              <a:defRPr sz="40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8FF70A8-1D13-4657-95F0-A9EA54967B8D}" type="datetime1">
              <a:rPr lang="en-US" smtClean="0"/>
              <a:t>7/12/2020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53850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1EB90AC-71BD-4C7F-8ACA-7B3F18292E63}" type="datetime1">
              <a:rPr lang="en-US" smtClean="0"/>
              <a:t>7/12/2020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
        <p:nvSpPr>
          <p:cNvPr id="11" name="TextBox 10">
            <a:extLst>
              <a:ext uri="{FF2B5EF4-FFF2-40B4-BE49-F238E27FC236}">
                <a16:creationId xmlns:a16="http://schemas.microsoft.com/office/drawing/2014/main" id="{223F0D53-0705-41B7-8554-09D21E7807F9}"/>
              </a:ext>
            </a:extLst>
          </p:cNvPr>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a:extLst>
              <a:ext uri="{FF2B5EF4-FFF2-40B4-BE49-F238E27FC236}">
                <a16:creationId xmlns:a16="http://schemas.microsoft.com/office/drawing/2014/main" id="{C7F647CD-0F1A-4BB3-89E0-A74F1E1B098D}"/>
              </a:ext>
            </a:extLst>
          </p:cNvPr>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7752911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E6EFC2C-8905-46F0-B443-CE905B76BA01}" type="datetime1">
              <a:rPr lang="en-US" smtClean="0"/>
              <a:t>7/12/2020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450925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49"/>
            <a:ext cx="3300984" cy="764783"/>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768110"/>
            <a:ext cx="3300984" cy="302308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D9079DC3-C9B5-499E-9140-0DC28B7074E2}" type="datetime1">
              <a:rPr lang="en-US" smtClean="0"/>
              <a:t>7/12/2020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326478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a:extLst>
              <a:ext uri="{FF2B5EF4-FFF2-40B4-BE49-F238E27FC236}">
                <a16:creationId xmlns:a16="http://schemas.microsoft.com/office/drawing/2014/main" id="{7E87C569-D426-4615-ADA7-B370EA9834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a:extLst>
              <a:ext uri="{FF2B5EF4-FFF2-40B4-BE49-F238E27FC236}">
                <a16:creationId xmlns:a16="http://schemas.microsoft.com/office/drawing/2014/main" id="{7B353ED4-7AD0-46C9-88ED-1A16B1433A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a:extLst>
              <a:ext uri="{FF2B5EF4-FFF2-40B4-BE49-F238E27FC236}">
                <a16:creationId xmlns:a16="http://schemas.microsoft.com/office/drawing/2014/main" id="{F561D985-AD57-459A-B3A6-EBF2960397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572443"/>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0BB33EA-E472-4D22-9C03-A9C14AA21CED}" type="datetime1">
              <a:rPr lang="en-US" smtClean="0"/>
              <a:t>7/12/2020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932546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125730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76450"/>
            <a:ext cx="10353762" cy="3714749"/>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6000749"/>
            <a:ext cx="2743200"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073ED0CC-082F-4160-86E5-0D6041F12778}" type="datetime1">
              <a:rPr lang="en-US" smtClean="0"/>
              <a:t>7/12/2020</a:t>
            </a:fld>
            <a:endParaRPr lang="en-US" dirty="0"/>
          </a:p>
        </p:txBody>
      </p:sp>
      <p:sp>
        <p:nvSpPr>
          <p:cNvPr id="5" name="Footer Placeholder 4"/>
          <p:cNvSpPr>
            <a:spLocks noGrp="1"/>
          </p:cNvSpPr>
          <p:nvPr>
            <p:ph type="ftr" sz="quarter" idx="3"/>
          </p:nvPr>
        </p:nvSpPr>
        <p:spPr>
          <a:xfrm>
            <a:off x="913795" y="6000749"/>
            <a:ext cx="6672865" cy="365125"/>
          </a:xfrm>
          <a:prstGeom prst="rect">
            <a:avLst/>
          </a:prstGeom>
        </p:spPr>
        <p:txBody>
          <a:bodyPr vert="horz" lIns="91440" tIns="45720" rIns="91440" bIns="45720" rtlCol="0" anchor="ctr"/>
          <a:lstStyle>
            <a:lvl1pPr algn="l">
              <a:defRPr sz="1100">
                <a:solidFill>
                  <a:schemeClr val="tx1">
                    <a:lumMod val="95000"/>
                  </a:schemeClr>
                </a:solidFill>
                <a:effectLst>
                  <a:outerShdw blurRad="50800" dist="38100" dir="2700000" algn="tl" rotWithShape="0">
                    <a:schemeClr val="bg1">
                      <a:alpha val="43000"/>
                    </a:schemeClr>
                  </a:outerShdw>
                </a:effectLst>
              </a:defRPr>
            </a:lvl1pPr>
          </a:lstStyle>
          <a:p>
            <a:endParaRPr lang="en-US" dirty="0"/>
          </a:p>
        </p:txBody>
      </p:sp>
      <p:sp>
        <p:nvSpPr>
          <p:cNvPr id="6" name="Slide Number Placeholder 5"/>
          <p:cNvSpPr>
            <a:spLocks noGrp="1"/>
          </p:cNvSpPr>
          <p:nvPr>
            <p:ph type="sldNum" sz="quarter" idx="4"/>
          </p:nvPr>
        </p:nvSpPr>
        <p:spPr>
          <a:xfrm>
            <a:off x="10514011" y="6000749"/>
            <a:ext cx="753545"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1858978357"/>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Lst>
  <p:hf sldNum="0" hdr="0" ftr="0" dt="0"/>
  <p:txStyles>
    <p:titleStyle>
      <a:lvl1pPr algn="ctr" defTabSz="457200" rtl="0" eaLnBrk="1" latinLnBrk="0" hangingPunct="1">
        <a:lnSpc>
          <a:spcPct val="90000"/>
        </a:lnSpc>
        <a:spcBef>
          <a:spcPct val="0"/>
        </a:spcBef>
        <a:buNone/>
        <a:defRPr sz="4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3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xml"/><Relationship Id="rId1" Type="http://schemas.openxmlformats.org/officeDocument/2006/relationships/themeOverride" Target="../theme/themeOverride1.xml"/><Relationship Id="rId4" Type="http://schemas.openxmlformats.org/officeDocument/2006/relationships/image" Target="../media/image6.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hemeOverride" Target="../theme/themeOverride2.xml"/><Relationship Id="rId6" Type="http://schemas.openxmlformats.org/officeDocument/2006/relationships/image" Target="../media/image8.png"/><Relationship Id="rId5" Type="http://schemas.openxmlformats.org/officeDocument/2006/relationships/image" Target="../media/image7.jpeg"/><Relationship Id="rId4" Type="http://schemas.openxmlformats.org/officeDocument/2006/relationships/image" Target="../media/image1.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8A1C807-B9AD-4C9B-BF9F-60F03428998E}"/>
              </a:ext>
              <a:ext uri="{C183D7F6-B498-43B3-948B-1728B52AA6E4}">
                <adec:decorative xmlns:adec="http://schemas.microsoft.com/office/drawing/2017/decorative" val="1"/>
              </a:ext>
            </a:extLst>
          </p:cNvPr>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a:off x="-1" y="10"/>
            <a:ext cx="12192001" cy="6857990"/>
          </a:xfrm>
          <a:prstGeom prst="rect">
            <a:avLst/>
          </a:prstGeom>
        </p:spPr>
      </p:pic>
      <p:sp useBgFill="1">
        <p:nvSpPr>
          <p:cNvPr id="103" name="Freeform 5">
            <a:extLst>
              <a:ext uri="{FF2B5EF4-FFF2-40B4-BE49-F238E27FC236}">
                <a16:creationId xmlns:a16="http://schemas.microsoft.com/office/drawing/2014/main" id="{FE469E50-3893-4ED6-92BA-2985C32B0C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5400000">
            <a:off x="7131809" y="1385982"/>
            <a:ext cx="4031414" cy="4100418"/>
          </a:xfrm>
          <a:custGeom>
            <a:avLst/>
            <a:gdLst>
              <a:gd name="T0" fmla="*/ 1577 w 1601"/>
              <a:gd name="T1" fmla="*/ 0 h 696"/>
              <a:gd name="T2" fmla="*/ 833 w 1601"/>
              <a:gd name="T3" fmla="*/ 0 h 696"/>
              <a:gd name="T4" fmla="*/ 768 w 1601"/>
              <a:gd name="T5" fmla="*/ 0 h 696"/>
              <a:gd name="T6" fmla="*/ 24 w 1601"/>
              <a:gd name="T7" fmla="*/ 0 h 696"/>
              <a:gd name="T8" fmla="*/ 0 w 1601"/>
              <a:gd name="T9" fmla="*/ 27 h 696"/>
              <a:gd name="T10" fmla="*/ 0 w 1601"/>
              <a:gd name="T11" fmla="*/ 669 h 696"/>
              <a:gd name="T12" fmla="*/ 24 w 1601"/>
              <a:gd name="T13" fmla="*/ 696 h 696"/>
              <a:gd name="T14" fmla="*/ 768 w 1601"/>
              <a:gd name="T15" fmla="*/ 696 h 696"/>
              <a:gd name="T16" fmla="*/ 833 w 1601"/>
              <a:gd name="T17" fmla="*/ 696 h 696"/>
              <a:gd name="T18" fmla="*/ 1577 w 1601"/>
              <a:gd name="T19" fmla="*/ 696 h 696"/>
              <a:gd name="T20" fmla="*/ 1601 w 1601"/>
              <a:gd name="T21" fmla="*/ 669 h 696"/>
              <a:gd name="T22" fmla="*/ 1601 w 1601"/>
              <a:gd name="T23" fmla="*/ 27 h 696"/>
              <a:gd name="T24" fmla="*/ 1577 w 1601"/>
              <a:gd name="T25" fmla="*/ 0 h 6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01" h="696">
                <a:moveTo>
                  <a:pt x="1577" y="0"/>
                </a:moveTo>
                <a:cubicBezTo>
                  <a:pt x="833" y="0"/>
                  <a:pt x="833" y="0"/>
                  <a:pt x="833" y="0"/>
                </a:cubicBezTo>
                <a:cubicBezTo>
                  <a:pt x="768" y="0"/>
                  <a:pt x="768" y="0"/>
                  <a:pt x="768" y="0"/>
                </a:cubicBezTo>
                <a:cubicBezTo>
                  <a:pt x="24" y="0"/>
                  <a:pt x="24" y="0"/>
                  <a:pt x="24" y="0"/>
                </a:cubicBezTo>
                <a:cubicBezTo>
                  <a:pt x="11" y="0"/>
                  <a:pt x="0" y="12"/>
                  <a:pt x="0" y="27"/>
                </a:cubicBezTo>
                <a:cubicBezTo>
                  <a:pt x="0" y="669"/>
                  <a:pt x="0" y="669"/>
                  <a:pt x="0" y="669"/>
                </a:cubicBezTo>
                <a:cubicBezTo>
                  <a:pt x="0" y="684"/>
                  <a:pt x="11" y="696"/>
                  <a:pt x="24" y="696"/>
                </a:cubicBezTo>
                <a:cubicBezTo>
                  <a:pt x="768" y="696"/>
                  <a:pt x="768" y="696"/>
                  <a:pt x="768" y="696"/>
                </a:cubicBezTo>
                <a:cubicBezTo>
                  <a:pt x="833" y="696"/>
                  <a:pt x="833" y="696"/>
                  <a:pt x="833" y="696"/>
                </a:cubicBezTo>
                <a:cubicBezTo>
                  <a:pt x="1577" y="696"/>
                  <a:pt x="1577" y="696"/>
                  <a:pt x="1577" y="696"/>
                </a:cubicBezTo>
                <a:cubicBezTo>
                  <a:pt x="1590" y="696"/>
                  <a:pt x="1601" y="684"/>
                  <a:pt x="1601" y="669"/>
                </a:cubicBezTo>
                <a:cubicBezTo>
                  <a:pt x="1601" y="27"/>
                  <a:pt x="1601" y="27"/>
                  <a:pt x="1601" y="27"/>
                </a:cubicBezTo>
                <a:cubicBezTo>
                  <a:pt x="1601" y="12"/>
                  <a:pt x="1590" y="0"/>
                  <a:pt x="1577" y="0"/>
                </a:cubicBezTo>
                <a:close/>
              </a:path>
            </a:pathLst>
          </a:custGeom>
          <a:ln>
            <a:noFill/>
          </a:ln>
          <a:effectLst>
            <a:outerShdw blurRad="50800" dist="38100" dir="5400000" algn="tl" rotWithShape="0">
              <a:srgbClr val="000000">
                <a:alpha val="43000"/>
              </a:srgbClr>
            </a:outerShdw>
          </a:effectLst>
          <a:extLst>
            <a:ext uri="{91240B29-F687-4f45-9708-019B960494DF}">
              <a14:hiddenLine xmlns:a16="http://schemas.microsoft.com/office/drawing/2014/main" xmlns:p14="http://schemas.microsoft.com/office/powerpoint/2010/main"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oudy Old Style"/>
              <a:ea typeface="+mn-ea"/>
              <a:cs typeface="+mn-cs"/>
            </a:endParaRPr>
          </a:p>
        </p:txBody>
      </p:sp>
      <p:sp>
        <p:nvSpPr>
          <p:cNvPr id="2" name="Title 1">
            <a:extLst>
              <a:ext uri="{FF2B5EF4-FFF2-40B4-BE49-F238E27FC236}">
                <a16:creationId xmlns:a16="http://schemas.microsoft.com/office/drawing/2014/main" id="{0D1F047C-C727-42A7-85C5-68C5AA1B1A93}"/>
              </a:ext>
            </a:extLst>
          </p:cNvPr>
          <p:cNvSpPr>
            <a:spLocks noGrp="1"/>
          </p:cNvSpPr>
          <p:nvPr>
            <p:ph type="ctrTitle"/>
          </p:nvPr>
        </p:nvSpPr>
        <p:spPr>
          <a:xfrm>
            <a:off x="7404979" y="1453635"/>
            <a:ext cx="3485073" cy="2067520"/>
          </a:xfrm>
        </p:spPr>
        <p:txBody>
          <a:bodyPr>
            <a:normAutofit/>
          </a:bodyPr>
          <a:lstStyle/>
          <a:p>
            <a:pPr algn="l"/>
            <a:r>
              <a:rPr lang="en-US" sz="4000" dirty="0"/>
              <a:t>Mathematical Analysis of</a:t>
            </a:r>
            <a:br>
              <a:rPr lang="en-US" sz="4000" dirty="0"/>
            </a:br>
            <a:r>
              <a:rPr lang="en-US" sz="4000" dirty="0"/>
              <a:t>PAM signals.</a:t>
            </a:r>
          </a:p>
        </p:txBody>
      </p:sp>
      <p:sp>
        <p:nvSpPr>
          <p:cNvPr id="3" name="Subtitle 2">
            <a:extLst>
              <a:ext uri="{FF2B5EF4-FFF2-40B4-BE49-F238E27FC236}">
                <a16:creationId xmlns:a16="http://schemas.microsoft.com/office/drawing/2014/main" id="{DB93FB3F-A8D4-46D3-A1C6-C79C64563729}"/>
              </a:ext>
            </a:extLst>
          </p:cNvPr>
          <p:cNvSpPr>
            <a:spLocks noGrp="1"/>
          </p:cNvSpPr>
          <p:nvPr>
            <p:ph type="subTitle" idx="1"/>
          </p:nvPr>
        </p:nvSpPr>
        <p:spPr>
          <a:xfrm>
            <a:off x="8706928" y="3988341"/>
            <a:ext cx="2364726" cy="1226210"/>
          </a:xfrm>
        </p:spPr>
        <p:txBody>
          <a:bodyPr>
            <a:normAutofit fontScale="85000" lnSpcReduction="20000"/>
          </a:bodyPr>
          <a:lstStyle/>
          <a:p>
            <a:pPr algn="l"/>
            <a:r>
              <a:rPr lang="en-US" sz="2300" dirty="0"/>
              <a:t>ABHIJITH P A</a:t>
            </a:r>
          </a:p>
          <a:p>
            <a:pPr algn="l"/>
            <a:r>
              <a:rPr lang="en-US" sz="2300" dirty="0"/>
              <a:t>Roll No.</a:t>
            </a:r>
            <a:r>
              <a:rPr lang="en-US" dirty="0"/>
              <a:t>1</a:t>
            </a:r>
          </a:p>
          <a:p>
            <a:pPr algn="l"/>
            <a:r>
              <a:rPr lang="en-US" sz="2300" dirty="0"/>
              <a:t>S6 ECE</a:t>
            </a:r>
          </a:p>
        </p:txBody>
      </p:sp>
    </p:spTree>
    <p:extLst>
      <p:ext uri="{BB962C8B-B14F-4D97-AF65-F5344CB8AC3E}">
        <p14:creationId xmlns:p14="http://schemas.microsoft.com/office/powerpoint/2010/main" val="41678842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4">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sp useBgFill="1">
        <p:nvSpPr>
          <p:cNvPr id="55" name="Rectangle 54">
            <a:extLst>
              <a:ext uri="{FF2B5EF4-FFF2-40B4-BE49-F238E27FC236}">
                <a16:creationId xmlns:a16="http://schemas.microsoft.com/office/drawing/2014/main" id="{0EF2A0DA-AE81-4A45-972E-646AC2870C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oudy Old Style"/>
              <a:ea typeface="+mn-ea"/>
              <a:cs typeface="+mn-cs"/>
            </a:endParaRPr>
          </a:p>
        </p:txBody>
      </p:sp>
      <p:pic>
        <p:nvPicPr>
          <p:cNvPr id="3" name="Picture 2">
            <a:extLst>
              <a:ext uri="{FF2B5EF4-FFF2-40B4-BE49-F238E27FC236}">
                <a16:creationId xmlns:a16="http://schemas.microsoft.com/office/drawing/2014/main" id="{72B2D6DE-C9B5-4678-91EF-77E85F2350DA}"/>
              </a:ext>
              <a:ext uri="{C183D7F6-B498-43B3-948B-1728B52AA6E4}">
                <adec:decorative xmlns:adec="http://schemas.microsoft.com/office/drawing/2017/decorative" val="1"/>
              </a:ext>
            </a:extLst>
          </p:cNvPr>
          <p:cNvPicPr>
            <a:picLocks noChangeAspect="1"/>
          </p:cNvPicPr>
          <p:nvPr/>
        </p:nvPicPr>
        <p:blipFill rotWithShape="1">
          <a:blip r:embed="rId5">
            <a:extLst>
              <a:ext uri="{28A0092B-C50C-407E-A947-70E740481C1C}">
                <a14:useLocalDpi xmlns:a14="http://schemas.microsoft.com/office/drawing/2010/main" val="0"/>
              </a:ext>
            </a:extLst>
          </a:blip>
          <a:srcRect b="-1"/>
          <a:stretch/>
        </p:blipFill>
        <p:spPr>
          <a:xfrm>
            <a:off x="-8622" y="10"/>
            <a:ext cx="6096000" cy="6857990"/>
          </a:xfrm>
          <a:prstGeom prst="rect">
            <a:avLst/>
          </a:prstGeom>
        </p:spPr>
      </p:pic>
      <p:pic>
        <p:nvPicPr>
          <p:cNvPr id="57" name="Picture 56">
            <a:extLst>
              <a:ext uri="{FF2B5EF4-FFF2-40B4-BE49-F238E27FC236}">
                <a16:creationId xmlns:a16="http://schemas.microsoft.com/office/drawing/2014/main" id="{B536FA4E-0152-4E27-91DA-0FC22D1846B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a:stretch/>
        </p:blipFill>
        <p:spPr>
          <a:xfrm>
            <a:off x="6257026" y="1"/>
            <a:ext cx="5934973" cy="6858000"/>
          </a:xfrm>
          <a:prstGeom prst="rect">
            <a:avLst/>
          </a:prstGeom>
        </p:spPr>
      </p:pic>
      <p:sp>
        <p:nvSpPr>
          <p:cNvPr id="2" name="Title 1">
            <a:extLst>
              <a:ext uri="{FF2B5EF4-FFF2-40B4-BE49-F238E27FC236}">
                <a16:creationId xmlns:a16="http://schemas.microsoft.com/office/drawing/2014/main" id="{89559F60-4CE1-4E2F-86EA-1B60679F1F4A}"/>
              </a:ext>
            </a:extLst>
          </p:cNvPr>
          <p:cNvSpPr>
            <a:spLocks noGrp="1"/>
          </p:cNvSpPr>
          <p:nvPr>
            <p:ph type="title"/>
          </p:nvPr>
        </p:nvSpPr>
        <p:spPr>
          <a:xfrm>
            <a:off x="6900493" y="609600"/>
            <a:ext cx="4538124" cy="970450"/>
          </a:xfrm>
        </p:spPr>
        <p:txBody>
          <a:bodyPr anchor="b">
            <a:normAutofit/>
          </a:bodyPr>
          <a:lstStyle/>
          <a:p>
            <a:pPr algn="l"/>
            <a:r>
              <a:rPr lang="en-US" sz="4000" dirty="0"/>
              <a:t>Introduction…	</a:t>
            </a:r>
          </a:p>
        </p:txBody>
      </p:sp>
      <p:sp>
        <p:nvSpPr>
          <p:cNvPr id="24" name="Content Placeholder 2">
            <a:extLst>
              <a:ext uri="{FF2B5EF4-FFF2-40B4-BE49-F238E27FC236}">
                <a16:creationId xmlns:a16="http://schemas.microsoft.com/office/drawing/2014/main" id="{F260476B-CCA6-412B-A9C5-399C34AE6F05}"/>
              </a:ext>
            </a:extLst>
          </p:cNvPr>
          <p:cNvSpPr>
            <a:spLocks noGrp="1"/>
          </p:cNvSpPr>
          <p:nvPr>
            <p:ph idx="1"/>
          </p:nvPr>
        </p:nvSpPr>
        <p:spPr>
          <a:xfrm>
            <a:off x="6900493" y="1732449"/>
            <a:ext cx="4403596" cy="4058751"/>
          </a:xfrm>
        </p:spPr>
        <p:txBody>
          <a:bodyPr anchor="t">
            <a:normAutofit/>
          </a:bodyPr>
          <a:lstStyle/>
          <a:p>
            <a:pPr marL="36900" lvl="0" indent="0">
              <a:buNone/>
            </a:pPr>
            <a:r>
              <a:rPr lang="en-US" sz="2400" dirty="0"/>
              <a:t>In this </a:t>
            </a:r>
            <a:r>
              <a:rPr lang="en-US" sz="2400" dirty="0" err="1"/>
              <a:t>powerpoint</a:t>
            </a:r>
            <a:r>
              <a:rPr lang="en-US" sz="2400" dirty="0"/>
              <a:t> presentation I am going to explain about Power amplitude modulation(PAM) and the mathematical analysis of power amplitude modulation.</a:t>
            </a:r>
          </a:p>
          <a:p>
            <a:pPr marL="36900" lvl="0" indent="0">
              <a:buNone/>
            </a:pPr>
            <a:r>
              <a:rPr lang="en-US" sz="2400" dirty="0"/>
              <a:t>I hope it will be helpful for you.</a:t>
            </a:r>
          </a:p>
        </p:txBody>
      </p:sp>
    </p:spTree>
    <p:extLst>
      <p:ext uri="{BB962C8B-B14F-4D97-AF65-F5344CB8AC3E}">
        <p14:creationId xmlns:p14="http://schemas.microsoft.com/office/powerpoint/2010/main" val="32202356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D287F3-6761-4923-8BC9-1D0D1ECCA884}"/>
              </a:ext>
            </a:extLst>
          </p:cNvPr>
          <p:cNvSpPr>
            <a:spLocks noGrp="1"/>
          </p:cNvSpPr>
          <p:nvPr>
            <p:ph type="title"/>
          </p:nvPr>
        </p:nvSpPr>
        <p:spPr/>
        <p:txBody>
          <a:bodyPr>
            <a:normAutofit fontScale="90000"/>
          </a:bodyPr>
          <a:lstStyle/>
          <a:p>
            <a:r>
              <a:rPr lang="en-GB" dirty="0"/>
              <a:t>PULSE AMPLITUDE MODULATION (PAM)</a:t>
            </a:r>
            <a:endParaRPr lang="en-IN" dirty="0"/>
          </a:p>
        </p:txBody>
      </p:sp>
      <p:sp>
        <p:nvSpPr>
          <p:cNvPr id="3" name="Content Placeholder 2">
            <a:extLst>
              <a:ext uri="{FF2B5EF4-FFF2-40B4-BE49-F238E27FC236}">
                <a16:creationId xmlns:a16="http://schemas.microsoft.com/office/drawing/2014/main" id="{E777FDD6-6582-4AC8-A1A5-007FF067EA4B}"/>
              </a:ext>
            </a:extLst>
          </p:cNvPr>
          <p:cNvSpPr>
            <a:spLocks noGrp="1"/>
          </p:cNvSpPr>
          <p:nvPr>
            <p:ph idx="1"/>
          </p:nvPr>
        </p:nvSpPr>
        <p:spPr>
          <a:xfrm>
            <a:off x="913795" y="2212374"/>
            <a:ext cx="10353762" cy="3714749"/>
          </a:xfrm>
        </p:spPr>
        <p:txBody>
          <a:bodyPr/>
          <a:lstStyle/>
          <a:p>
            <a:r>
              <a:rPr lang="en-GB" dirty="0"/>
              <a:t>In Pulse Amplitude Modulation (PAM), the amplitudes of regularly  spaced pulses are varied in proportion to the corresponding sample values of a continuous message signal; the pulses can be of a rectangular form or some other appropriate shape. Pulse amplitude modulation as defined here is  somewhat similar to natural sampling, where the message signal is multiplied by a periodic train of rectangular pulse. However, in natural sampling the top of each modulated rectangular pulse varies with the message signal, whereas in PAM it is maintained flat.</a:t>
            </a:r>
          </a:p>
        </p:txBody>
      </p:sp>
    </p:spTree>
    <p:extLst>
      <p:ext uri="{BB962C8B-B14F-4D97-AF65-F5344CB8AC3E}">
        <p14:creationId xmlns:p14="http://schemas.microsoft.com/office/powerpoint/2010/main" val="24615637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ABE295A7-491D-4FAE-916C-1391310C6D0B}"/>
              </a:ext>
            </a:extLst>
          </p:cNvPr>
          <p:cNvSpPr>
            <a:spLocks noGrp="1"/>
          </p:cNvSpPr>
          <p:nvPr>
            <p:ph type="body" sz="half" idx="2"/>
          </p:nvPr>
        </p:nvSpPr>
        <p:spPr>
          <a:xfrm>
            <a:off x="919899" y="5369555"/>
            <a:ext cx="10352199" cy="968435"/>
          </a:xfrm>
        </p:spPr>
        <p:txBody>
          <a:bodyPr/>
          <a:lstStyle/>
          <a:p>
            <a:r>
              <a:rPr lang="en-GB" dirty="0"/>
              <a:t>Fig. Flat-top samples, representing an </a:t>
            </a:r>
            <a:r>
              <a:rPr lang="en-GB" dirty="0" err="1"/>
              <a:t>analog</a:t>
            </a:r>
            <a:r>
              <a:rPr lang="en-GB" dirty="0"/>
              <a:t>  signal</a:t>
            </a:r>
            <a:endParaRPr lang="en-IN" dirty="0"/>
          </a:p>
        </p:txBody>
      </p:sp>
      <p:pic>
        <p:nvPicPr>
          <p:cNvPr id="5" name="Content Placeholder 4">
            <a:extLst>
              <a:ext uri="{FF2B5EF4-FFF2-40B4-BE49-F238E27FC236}">
                <a16:creationId xmlns:a16="http://schemas.microsoft.com/office/drawing/2014/main" id="{9FFE135E-1856-4A84-900A-8371221988C3}"/>
              </a:ext>
            </a:extLst>
          </p:cNvPr>
          <p:cNvPicPr>
            <a:picLocks noGrp="1" noChangeAspect="1"/>
          </p:cNvPicPr>
          <p:nvPr>
            <p:ph idx="4294967295"/>
          </p:nvPr>
        </p:nvPicPr>
        <p:blipFill>
          <a:blip r:embed="rId2"/>
          <a:stretch>
            <a:fillRect/>
          </a:stretch>
        </p:blipFill>
        <p:spPr>
          <a:xfrm>
            <a:off x="1341437" y="520010"/>
            <a:ext cx="9509125" cy="4525963"/>
          </a:xfrm>
        </p:spPr>
      </p:pic>
      <p:sp>
        <p:nvSpPr>
          <p:cNvPr id="8" name="Content Placeholder 2">
            <a:extLst>
              <a:ext uri="{FF2B5EF4-FFF2-40B4-BE49-F238E27FC236}">
                <a16:creationId xmlns:a16="http://schemas.microsoft.com/office/drawing/2014/main" id="{0C1D3440-C8AF-45A4-AC59-056673CCE153}"/>
              </a:ext>
            </a:extLst>
          </p:cNvPr>
          <p:cNvSpPr txBox="1">
            <a:spLocks/>
          </p:cNvSpPr>
          <p:nvPr/>
        </p:nvSpPr>
        <p:spPr>
          <a:xfrm>
            <a:off x="777870" y="5489942"/>
            <a:ext cx="10353762" cy="626074"/>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3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pPr marL="36900" indent="0">
              <a:buNone/>
            </a:pPr>
            <a:endParaRPr lang="en-GB" dirty="0"/>
          </a:p>
        </p:txBody>
      </p:sp>
    </p:spTree>
    <p:extLst>
      <p:ext uri="{BB962C8B-B14F-4D97-AF65-F5344CB8AC3E}">
        <p14:creationId xmlns:p14="http://schemas.microsoft.com/office/powerpoint/2010/main" val="15144645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a:extLst>
              <a:ext uri="{FF2B5EF4-FFF2-40B4-BE49-F238E27FC236}">
                <a16:creationId xmlns:a16="http://schemas.microsoft.com/office/drawing/2014/main" id="{1F918815-CB8B-4808-9E32-62B2D4E8F3A7}"/>
              </a:ext>
            </a:extLst>
          </p:cNvPr>
          <p:cNvSpPr>
            <a:spLocks noGrp="1"/>
          </p:cNvSpPr>
          <p:nvPr>
            <p:ph type="subTitle" idx="1"/>
          </p:nvPr>
        </p:nvSpPr>
        <p:spPr>
          <a:xfrm>
            <a:off x="1375983" y="1062990"/>
            <a:ext cx="9440034" cy="4732020"/>
          </a:xfrm>
        </p:spPr>
        <p:txBody>
          <a:bodyPr>
            <a:noAutofit/>
          </a:bodyPr>
          <a:lstStyle/>
          <a:p>
            <a:r>
              <a:rPr lang="en-GB" sz="2700" dirty="0"/>
              <a:t>In the figure, the dashed curve in this figure depicts the waveform of a message signal m(t), and the sequence of amplitude modulated rectangular pulse shown as solid lines represents the corresponding PAM signa s(t).</a:t>
            </a:r>
          </a:p>
          <a:p>
            <a:r>
              <a:rPr lang="en-GB" sz="2700" dirty="0"/>
              <a:t>There are two operations involved in the generation of PAM signal:</a:t>
            </a:r>
          </a:p>
          <a:p>
            <a:pPr marL="457200" indent="-457200" algn="l">
              <a:buFont typeface="+mj-lt"/>
              <a:buAutoNum type="arabicPeriod"/>
            </a:pPr>
            <a:r>
              <a:rPr lang="en-IN" sz="2700" dirty="0"/>
              <a:t>Instantaneous sampling of the message signal m(t) every T , seconds where the sampling rate </a:t>
            </a:r>
            <a:r>
              <a:rPr lang="en-IN" sz="2700" i="1" dirty="0"/>
              <a:t>fs = 1/Ts</a:t>
            </a:r>
            <a:r>
              <a:rPr lang="en-IN" sz="2700" dirty="0"/>
              <a:t> is chosen in accordance with the sampling theorem.</a:t>
            </a:r>
          </a:p>
          <a:p>
            <a:pPr marL="457200" indent="-457200" algn="l">
              <a:buFont typeface="+mj-lt"/>
              <a:buAutoNum type="arabicPeriod"/>
            </a:pPr>
            <a:r>
              <a:rPr lang="en-IN" sz="2700" dirty="0"/>
              <a:t>Lengthening the duration of each sample so obtained to some constant value  T.</a:t>
            </a:r>
            <a:endParaRPr lang="en-GB" sz="2700" dirty="0"/>
          </a:p>
        </p:txBody>
      </p:sp>
    </p:spTree>
    <p:extLst>
      <p:ext uri="{BB962C8B-B14F-4D97-AF65-F5344CB8AC3E}">
        <p14:creationId xmlns:p14="http://schemas.microsoft.com/office/powerpoint/2010/main" val="32205338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2475F8C-C7A1-4C4A-90D9-78BCE7599D69}"/>
              </a:ext>
            </a:extLst>
          </p:cNvPr>
          <p:cNvSpPr>
            <a:spLocks noGrp="1"/>
          </p:cNvSpPr>
          <p:nvPr>
            <p:ph idx="1"/>
          </p:nvPr>
        </p:nvSpPr>
        <p:spPr>
          <a:xfrm>
            <a:off x="919119" y="1756410"/>
            <a:ext cx="10353762" cy="3714749"/>
          </a:xfrm>
        </p:spPr>
        <p:txBody>
          <a:bodyPr>
            <a:normAutofit/>
          </a:bodyPr>
          <a:lstStyle/>
          <a:p>
            <a:pPr marL="36900" indent="0">
              <a:buNone/>
            </a:pPr>
            <a:r>
              <a:rPr lang="en-GB" sz="3000" dirty="0"/>
              <a:t>In digital circuit technology, these two operations are jointly referred to as “sample and hold”. One important reason for intentionally lengthening the duration of each sample is to avoid the use of an excessive channel bandwidth, since bandwidth is inversely proportional to the pulse duration. However, care has to be exercised in how long we make the sample duration T, as the following analysis reveals.</a:t>
            </a:r>
            <a:endParaRPr lang="en-IN" sz="3000" dirty="0"/>
          </a:p>
        </p:txBody>
      </p:sp>
    </p:spTree>
    <p:extLst>
      <p:ext uri="{BB962C8B-B14F-4D97-AF65-F5344CB8AC3E}">
        <p14:creationId xmlns:p14="http://schemas.microsoft.com/office/powerpoint/2010/main" val="37513393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B9A22CCA-AF50-49A1-8454-DBBA932A14FF}"/>
                  </a:ext>
                </a:extLst>
              </p:cNvPr>
              <p:cNvSpPr>
                <a:spLocks noGrp="1"/>
              </p:cNvSpPr>
              <p:nvPr>
                <p:ph idx="1"/>
              </p:nvPr>
            </p:nvSpPr>
            <p:spPr>
              <a:xfrm>
                <a:off x="919119" y="613410"/>
                <a:ext cx="10353762" cy="5581650"/>
              </a:xfrm>
            </p:spPr>
            <p:txBody>
              <a:bodyPr>
                <a:normAutofit/>
              </a:bodyPr>
              <a:lstStyle/>
              <a:p>
                <a:pPr marL="36900" indent="0">
                  <a:buNone/>
                </a:pPr>
                <a:r>
                  <a:rPr lang="en-GB" dirty="0"/>
                  <a:t>Let s(t) denote the sequence of flat-top pulses generated. We may express the PAM signal as</a:t>
                </a:r>
              </a:p>
              <a:p>
                <a:pPr marL="36900" indent="0" algn="r">
                  <a:buNone/>
                </a:pPr>
                <a14:m>
                  <m:oMath xmlns:m="http://schemas.openxmlformats.org/officeDocument/2006/math">
                    <m:r>
                      <a:rPr lang="en-GB" b="0" i="1" smtClean="0">
                        <a:latin typeface="Cambria Math" panose="02040503050406030204" pitchFamily="18" charset="0"/>
                      </a:rPr>
                      <m:t>𝑠</m:t>
                    </m:r>
                    <m:d>
                      <m:dPr>
                        <m:ctrlPr>
                          <a:rPr lang="en-GB" b="0" i="1" smtClean="0">
                            <a:latin typeface="Cambria Math" panose="02040503050406030204" pitchFamily="18" charset="0"/>
                          </a:rPr>
                        </m:ctrlPr>
                      </m:dPr>
                      <m:e>
                        <m:r>
                          <a:rPr lang="en-GB" b="0" i="1" smtClean="0">
                            <a:latin typeface="Cambria Math" panose="02040503050406030204" pitchFamily="18" charset="0"/>
                          </a:rPr>
                          <m:t>𝑡</m:t>
                        </m:r>
                      </m:e>
                    </m:d>
                    <m:r>
                      <a:rPr lang="en-GB" b="0" i="1" smtClean="0">
                        <a:latin typeface="Cambria Math" panose="02040503050406030204" pitchFamily="18" charset="0"/>
                      </a:rPr>
                      <m:t>=</m:t>
                    </m:r>
                    <m:nary>
                      <m:naryPr>
                        <m:chr m:val="∑"/>
                        <m:ctrlPr>
                          <a:rPr lang="en-GB" b="0" i="1" smtClean="0">
                            <a:latin typeface="Cambria Math" panose="02040503050406030204" pitchFamily="18" charset="0"/>
                          </a:rPr>
                        </m:ctrlPr>
                      </m:naryPr>
                      <m:sub>
                        <m:r>
                          <m:rPr>
                            <m:brk m:alnAt="23"/>
                          </m:rPr>
                          <a:rPr lang="en-GB" b="0" i="1" smtClean="0">
                            <a:latin typeface="Cambria Math" panose="02040503050406030204" pitchFamily="18" charset="0"/>
                          </a:rPr>
                          <m:t>𝑛</m:t>
                        </m:r>
                        <m:r>
                          <a:rPr lang="en-GB" b="0" i="1" smtClean="0">
                            <a:latin typeface="Cambria Math" panose="02040503050406030204" pitchFamily="18" charset="0"/>
                          </a:rPr>
                          <m:t>=−∞</m:t>
                        </m:r>
                      </m:sub>
                      <m:sup>
                        <m:r>
                          <a:rPr lang="en-GB" b="0" i="1" smtClean="0">
                            <a:latin typeface="Cambria Math" panose="02040503050406030204" pitchFamily="18" charset="0"/>
                          </a:rPr>
                          <m:t>∞</m:t>
                        </m:r>
                      </m:sup>
                      <m:e>
                        <m:r>
                          <a:rPr lang="en-GB" b="0" i="1" smtClean="0">
                            <a:latin typeface="Cambria Math" panose="02040503050406030204" pitchFamily="18" charset="0"/>
                          </a:rPr>
                          <m:t>𝑚</m:t>
                        </m:r>
                        <m:d>
                          <m:dPr>
                            <m:ctrlPr>
                              <a:rPr lang="en-GB" b="0" i="1" smtClean="0">
                                <a:latin typeface="Cambria Math" panose="02040503050406030204" pitchFamily="18" charset="0"/>
                              </a:rPr>
                            </m:ctrlPr>
                          </m:dPr>
                          <m:e>
                            <m:r>
                              <a:rPr lang="en-GB" b="0" i="1" smtClean="0">
                                <a:latin typeface="Cambria Math" panose="02040503050406030204" pitchFamily="18" charset="0"/>
                              </a:rPr>
                              <m:t>𝑛</m:t>
                            </m:r>
                            <m:sSub>
                              <m:sSubPr>
                                <m:ctrlPr>
                                  <a:rPr lang="en-IN" i="1">
                                    <a:latin typeface="Cambria Math" panose="02040503050406030204" pitchFamily="18" charset="0"/>
                                  </a:rPr>
                                </m:ctrlPr>
                              </m:sSubPr>
                              <m:e>
                                <m:r>
                                  <a:rPr lang="en-GB" i="1">
                                    <a:latin typeface="Cambria Math" panose="02040503050406030204" pitchFamily="18" charset="0"/>
                                  </a:rPr>
                                  <m:t>𝑇</m:t>
                                </m:r>
                              </m:e>
                              <m:sub>
                                <m:r>
                                  <a:rPr lang="en-GB" i="1">
                                    <a:latin typeface="Cambria Math" panose="02040503050406030204" pitchFamily="18" charset="0"/>
                                  </a:rPr>
                                  <m:t>𝑠</m:t>
                                </m:r>
                              </m:sub>
                            </m:sSub>
                          </m:e>
                        </m:d>
                        <m:r>
                          <a:rPr lang="en-GB" b="0" i="1" smtClean="0">
                            <a:latin typeface="Cambria Math" panose="02040503050406030204" pitchFamily="18" charset="0"/>
                          </a:rPr>
                          <m:t>h</m:t>
                        </m:r>
                        <m:r>
                          <a:rPr lang="en-GB" b="0" i="1" smtClean="0">
                            <a:latin typeface="Cambria Math" panose="02040503050406030204" pitchFamily="18" charset="0"/>
                          </a:rPr>
                          <m:t>(</m:t>
                        </m:r>
                        <m:r>
                          <a:rPr lang="en-GB" b="0" i="1" smtClean="0">
                            <a:latin typeface="Cambria Math" panose="02040503050406030204" pitchFamily="18" charset="0"/>
                          </a:rPr>
                          <m:t>𝑡</m:t>
                        </m:r>
                        <m:r>
                          <a:rPr lang="en-GB" b="0" i="1" smtClean="0">
                            <a:latin typeface="Cambria Math" panose="02040503050406030204" pitchFamily="18" charset="0"/>
                          </a:rPr>
                          <m:t>−</m:t>
                        </m:r>
                        <m:r>
                          <a:rPr lang="en-GB" b="0" i="1" smtClean="0">
                            <a:latin typeface="Cambria Math" panose="02040503050406030204" pitchFamily="18" charset="0"/>
                          </a:rPr>
                          <m:t>𝑛</m:t>
                        </m:r>
                        <m:sSub>
                          <m:sSubPr>
                            <m:ctrlPr>
                              <a:rPr lang="en-IN" i="1" smtClean="0">
                                <a:latin typeface="Cambria Math" panose="02040503050406030204" pitchFamily="18" charset="0"/>
                              </a:rPr>
                            </m:ctrlPr>
                          </m:sSubPr>
                          <m:e>
                            <m:r>
                              <a:rPr lang="en-GB" i="1">
                                <a:latin typeface="Cambria Math" panose="02040503050406030204" pitchFamily="18" charset="0"/>
                              </a:rPr>
                              <m:t>𝑇</m:t>
                            </m:r>
                          </m:e>
                          <m:sub>
                            <m:r>
                              <a:rPr lang="en-GB" i="1">
                                <a:latin typeface="Cambria Math" panose="02040503050406030204" pitchFamily="18" charset="0"/>
                              </a:rPr>
                              <m:t>𝑠</m:t>
                            </m:r>
                          </m:sub>
                        </m:sSub>
                        <m:r>
                          <a:rPr lang="en-GB" b="0" i="1" smtClean="0">
                            <a:latin typeface="Cambria Math" panose="02040503050406030204" pitchFamily="18" charset="0"/>
                          </a:rPr>
                          <m:t>)</m:t>
                        </m:r>
                      </m:e>
                    </m:nary>
                  </m:oMath>
                </a14:m>
                <a:r>
                  <a:rPr lang="en-IN" dirty="0"/>
                  <a:t>                              							(1)</a:t>
                </a:r>
              </a:p>
              <a:p>
                <a:pPr marL="36900" indent="0" algn="ctr">
                  <a:buNone/>
                </a:pPr>
                <a:r>
                  <a:rPr lang="en-IN" dirty="0"/>
                  <a:t>Where </a:t>
                </a:r>
                <a14:m>
                  <m:oMath xmlns:m="http://schemas.openxmlformats.org/officeDocument/2006/math">
                    <m:sSub>
                      <m:sSubPr>
                        <m:ctrlPr>
                          <a:rPr lang="en-IN" i="1">
                            <a:latin typeface="Cambria Math" panose="02040503050406030204" pitchFamily="18" charset="0"/>
                          </a:rPr>
                        </m:ctrlPr>
                      </m:sSubPr>
                      <m:e>
                        <m:r>
                          <a:rPr lang="en-GB" i="1">
                            <a:latin typeface="Cambria Math" panose="02040503050406030204" pitchFamily="18" charset="0"/>
                          </a:rPr>
                          <m:t>𝑇</m:t>
                        </m:r>
                      </m:e>
                      <m:sub>
                        <m:r>
                          <a:rPr lang="en-GB" i="1">
                            <a:latin typeface="Cambria Math" panose="02040503050406030204" pitchFamily="18" charset="0"/>
                          </a:rPr>
                          <m:t>𝑠</m:t>
                        </m:r>
                      </m:sub>
                    </m:sSub>
                    <m:r>
                      <a:rPr lang="en-GB" i="1">
                        <a:latin typeface="Cambria Math" panose="02040503050406030204" pitchFamily="18" charset="0"/>
                      </a:rPr>
                      <m:t> </m:t>
                    </m:r>
                  </m:oMath>
                </a14:m>
                <a:r>
                  <a:rPr lang="en-IN" dirty="0"/>
                  <a:t> is the sampling period and m(n </a:t>
                </a:r>
                <a14:m>
                  <m:oMath xmlns:m="http://schemas.openxmlformats.org/officeDocument/2006/math">
                    <m:sSub>
                      <m:sSubPr>
                        <m:ctrlPr>
                          <a:rPr lang="en-IN" i="1">
                            <a:latin typeface="Cambria Math" panose="02040503050406030204" pitchFamily="18" charset="0"/>
                          </a:rPr>
                        </m:ctrlPr>
                      </m:sSubPr>
                      <m:e>
                        <m:r>
                          <a:rPr lang="en-GB" i="1">
                            <a:latin typeface="Cambria Math" panose="02040503050406030204" pitchFamily="18" charset="0"/>
                          </a:rPr>
                          <m:t>𝑇</m:t>
                        </m:r>
                      </m:e>
                      <m:sub>
                        <m:r>
                          <a:rPr lang="en-GB" i="1">
                            <a:latin typeface="Cambria Math" panose="02040503050406030204" pitchFamily="18" charset="0"/>
                          </a:rPr>
                          <m:t>𝑠</m:t>
                        </m:r>
                      </m:sub>
                    </m:sSub>
                  </m:oMath>
                </a14:m>
                <a:r>
                  <a:rPr lang="en-IN" dirty="0"/>
                  <a:t>) is the sample value of m(n) obtained at time t = n </a:t>
                </a:r>
                <a14:m>
                  <m:oMath xmlns:m="http://schemas.openxmlformats.org/officeDocument/2006/math">
                    <m:sSub>
                      <m:sSubPr>
                        <m:ctrlPr>
                          <a:rPr lang="en-IN" i="1">
                            <a:latin typeface="Cambria Math" panose="02040503050406030204" pitchFamily="18" charset="0"/>
                          </a:rPr>
                        </m:ctrlPr>
                      </m:sSubPr>
                      <m:e>
                        <m:r>
                          <a:rPr lang="en-GB" i="1">
                            <a:latin typeface="Cambria Math" panose="02040503050406030204" pitchFamily="18" charset="0"/>
                          </a:rPr>
                          <m:t>𝑇</m:t>
                        </m:r>
                      </m:e>
                      <m:sub>
                        <m:r>
                          <a:rPr lang="en-GB" i="1">
                            <a:latin typeface="Cambria Math" panose="02040503050406030204" pitchFamily="18" charset="0"/>
                          </a:rPr>
                          <m:t>𝑠</m:t>
                        </m:r>
                      </m:sub>
                    </m:sSub>
                  </m:oMath>
                </a14:m>
                <a:r>
                  <a:rPr lang="en-IN" dirty="0"/>
                  <a:t>. The h(t) is a standard rectangular pulse of unit amplitude and duration T, defined as follows:</a:t>
                </a:r>
              </a:p>
              <a:p>
                <a:pPr marL="36900" indent="0" algn="ctr">
                  <a:buNone/>
                </a:pPr>
                <a:r>
                  <a:rPr lang="en-IN" dirty="0"/>
                  <a:t>h(t) = </a:t>
                </a:r>
                <a14:m>
                  <m:oMath xmlns:m="http://schemas.openxmlformats.org/officeDocument/2006/math">
                    <m:d>
                      <m:dPr>
                        <m:begChr m:val="{"/>
                        <m:endChr m:val=""/>
                        <m:ctrlPr>
                          <a:rPr lang="en-IN" i="1" smtClean="0">
                            <a:latin typeface="Cambria Math" panose="02040503050406030204" pitchFamily="18" charset="0"/>
                          </a:rPr>
                        </m:ctrlPr>
                      </m:dPr>
                      <m:e>
                        <m:eqArr>
                          <m:eqArrPr>
                            <m:ctrlPr>
                              <a:rPr lang="en-GB" b="0" i="1" smtClean="0">
                                <a:latin typeface="Cambria Math" panose="02040503050406030204" pitchFamily="18" charset="0"/>
                              </a:rPr>
                            </m:ctrlPr>
                          </m:eqArrPr>
                          <m:e>
                            <m:r>
                              <a:rPr lang="en-GB" b="0" i="1" smtClean="0">
                                <a:latin typeface="Cambria Math" panose="02040503050406030204" pitchFamily="18" charset="0"/>
                              </a:rPr>
                              <m:t>1,   0&lt;</m:t>
                            </m:r>
                            <m:r>
                              <a:rPr lang="en-GB" b="0" i="1" smtClean="0">
                                <a:latin typeface="Cambria Math" panose="02040503050406030204" pitchFamily="18" charset="0"/>
                              </a:rPr>
                              <m:t>𝑡</m:t>
                            </m:r>
                            <m:r>
                              <a:rPr lang="en-GB" b="0" i="1" smtClean="0">
                                <a:latin typeface="Cambria Math" panose="02040503050406030204" pitchFamily="18" charset="0"/>
                              </a:rPr>
                              <m:t>&lt;</m:t>
                            </m:r>
                            <m:r>
                              <a:rPr lang="en-GB" b="0" i="1" smtClean="0">
                                <a:latin typeface="Cambria Math" panose="02040503050406030204" pitchFamily="18" charset="0"/>
                              </a:rPr>
                              <m:t>𝑇</m:t>
                            </m:r>
                          </m:e>
                          <m:e>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2</m:t>
                                </m:r>
                              </m:den>
                            </m:f>
                            <m:r>
                              <a:rPr lang="en-GB" b="0" i="1" smtClean="0">
                                <a:latin typeface="Cambria Math" panose="02040503050406030204" pitchFamily="18" charset="0"/>
                              </a:rPr>
                              <m:t>  , </m:t>
                            </m:r>
                            <m:r>
                              <a:rPr lang="en-GB" b="0" i="1" smtClean="0">
                                <a:latin typeface="Cambria Math" panose="02040503050406030204" pitchFamily="18" charset="0"/>
                              </a:rPr>
                              <m:t>𝑡</m:t>
                            </m:r>
                            <m:r>
                              <a:rPr lang="en-GB" b="0" i="1" smtClean="0">
                                <a:latin typeface="Cambria Math" panose="02040503050406030204" pitchFamily="18" charset="0"/>
                              </a:rPr>
                              <m:t>=0,</m:t>
                            </m:r>
                            <m:r>
                              <a:rPr lang="en-GB" b="0" i="1" smtClean="0">
                                <a:latin typeface="Cambria Math" panose="02040503050406030204" pitchFamily="18" charset="0"/>
                              </a:rPr>
                              <m:t>𝑇</m:t>
                            </m:r>
                            <m:r>
                              <a:rPr lang="en-GB" b="0" i="1" smtClean="0">
                                <a:latin typeface="Cambria Math" panose="02040503050406030204" pitchFamily="18" charset="0"/>
                              </a:rPr>
                              <m:t>=0</m:t>
                            </m:r>
                          </m:e>
                          <m:e>
                            <m:r>
                              <a:rPr lang="en-GB" b="0" i="1" smtClean="0">
                                <a:latin typeface="Cambria Math" panose="02040503050406030204" pitchFamily="18" charset="0"/>
                              </a:rPr>
                              <m:t>0,  </m:t>
                            </m:r>
                            <m:r>
                              <a:rPr lang="en-GB" b="0" i="1" smtClean="0">
                                <a:latin typeface="Cambria Math" panose="02040503050406030204" pitchFamily="18" charset="0"/>
                              </a:rPr>
                              <m:t>𝑜𝑡h𝑒𝑟𝑤𝑖𝑠𝑒</m:t>
                            </m:r>
                          </m:e>
                        </m:eqArr>
                      </m:e>
                    </m:d>
                  </m:oMath>
                </a14:m>
                <a:r>
                  <a:rPr lang="en-IN" dirty="0"/>
                  <a:t>                                                                                   (2)</a:t>
                </a:r>
              </a:p>
              <a:p>
                <a:pPr marL="36900" indent="0" algn="ctr">
                  <a:buNone/>
                </a:pPr>
                <a:endParaRPr lang="en-IN" dirty="0"/>
              </a:p>
            </p:txBody>
          </p:sp>
        </mc:Choice>
        <mc:Fallback>
          <p:sp>
            <p:nvSpPr>
              <p:cNvPr id="3" name="Content Placeholder 2">
                <a:extLst>
                  <a:ext uri="{FF2B5EF4-FFF2-40B4-BE49-F238E27FC236}">
                    <a16:creationId xmlns:a16="http://schemas.microsoft.com/office/drawing/2014/main" id="{B9A22CCA-AF50-49A1-8454-DBBA932A14FF}"/>
                  </a:ext>
                </a:extLst>
              </p:cNvPr>
              <p:cNvSpPr>
                <a:spLocks noGrp="1" noRot="1" noChangeAspect="1" noMove="1" noResize="1" noEditPoints="1" noAdjustHandles="1" noChangeArrowheads="1" noChangeShapeType="1" noTextEdit="1"/>
              </p:cNvSpPr>
              <p:nvPr>
                <p:ph idx="1"/>
              </p:nvPr>
            </p:nvSpPr>
            <p:spPr>
              <a:xfrm>
                <a:off x="919119" y="613410"/>
                <a:ext cx="10353762" cy="5581650"/>
              </a:xfrm>
              <a:blipFill>
                <a:blip r:embed="rId2"/>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23369308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883624AF-AC0B-4F64-9C6A-AB4D7568D601}"/>
                  </a:ext>
                </a:extLst>
              </p:cNvPr>
              <p:cNvSpPr>
                <a:spLocks noGrp="1"/>
              </p:cNvSpPr>
              <p:nvPr>
                <p:ph idx="1"/>
              </p:nvPr>
            </p:nvSpPr>
            <p:spPr>
              <a:xfrm>
                <a:off x="919119" y="384810"/>
                <a:ext cx="10353762" cy="5719428"/>
              </a:xfrm>
            </p:spPr>
            <p:txBody>
              <a:bodyPr/>
              <a:lstStyle/>
              <a:p>
                <a:pPr marL="36900" indent="0">
                  <a:buNone/>
                </a:pPr>
                <a:r>
                  <a:rPr lang="en-GB" dirty="0"/>
                  <a:t>By definition, the instantaneously sampled version of m(t) is given by</a:t>
                </a:r>
              </a:p>
              <a:p>
                <a:pPr marL="36900" indent="0">
                  <a:buNone/>
                </a:pPr>
                <a14:m>
                  <m:oMath xmlns:m="http://schemas.openxmlformats.org/officeDocument/2006/math">
                    <m:sSub>
                      <m:sSubPr>
                        <m:ctrlPr>
                          <a:rPr lang="en-GB" i="1" smtClean="0">
                            <a:latin typeface="Cambria Math" panose="02040503050406030204" pitchFamily="18" charset="0"/>
                          </a:rPr>
                        </m:ctrlPr>
                      </m:sSubPr>
                      <m:e>
                        <m:r>
                          <a:rPr lang="en-GB" b="0" i="1" smtClean="0">
                            <a:latin typeface="Cambria Math" panose="02040503050406030204" pitchFamily="18" charset="0"/>
                          </a:rPr>
                          <m:t>𝑚</m:t>
                        </m:r>
                      </m:e>
                      <m:sub>
                        <m:r>
                          <a:rPr lang="en-GB" i="1" smtClean="0">
                            <a:latin typeface="Cambria Math" panose="02040503050406030204" pitchFamily="18" charset="0"/>
                          </a:rPr>
                          <m:t>𝞭</m:t>
                        </m:r>
                      </m:sub>
                    </m:sSub>
                    <m:d>
                      <m:dPr>
                        <m:ctrlPr>
                          <a:rPr lang="en-GB" b="0" i="1" smtClean="0">
                            <a:latin typeface="Cambria Math" panose="02040503050406030204" pitchFamily="18" charset="0"/>
                          </a:rPr>
                        </m:ctrlPr>
                      </m:dPr>
                      <m:e>
                        <m:r>
                          <a:rPr lang="en-GB" b="0" i="1" smtClean="0">
                            <a:latin typeface="Cambria Math" panose="02040503050406030204" pitchFamily="18" charset="0"/>
                          </a:rPr>
                          <m:t>𝑡</m:t>
                        </m:r>
                      </m:e>
                    </m:d>
                    <m:r>
                      <a:rPr lang="en-GB" b="0" i="1" smtClean="0">
                        <a:latin typeface="Cambria Math" panose="02040503050406030204" pitchFamily="18" charset="0"/>
                      </a:rPr>
                      <m:t>= </m:t>
                    </m:r>
                    <m:nary>
                      <m:naryPr>
                        <m:chr m:val="∑"/>
                        <m:ctrlPr>
                          <a:rPr lang="en-GB" b="0" i="1" smtClean="0">
                            <a:latin typeface="Cambria Math" panose="02040503050406030204" pitchFamily="18" charset="0"/>
                          </a:rPr>
                        </m:ctrlPr>
                      </m:naryPr>
                      <m:sub>
                        <m:r>
                          <m:rPr>
                            <m:brk m:alnAt="23"/>
                          </m:rPr>
                          <a:rPr lang="en-GB" b="0" i="1" smtClean="0">
                            <a:latin typeface="Cambria Math" panose="02040503050406030204" pitchFamily="18" charset="0"/>
                          </a:rPr>
                          <m:t>𝑛</m:t>
                        </m:r>
                        <m:r>
                          <a:rPr lang="en-GB" b="0" i="1" smtClean="0">
                            <a:latin typeface="Cambria Math" panose="02040503050406030204" pitchFamily="18" charset="0"/>
                          </a:rPr>
                          <m:t>=−∞</m:t>
                        </m:r>
                      </m:sub>
                      <m:sup>
                        <m:r>
                          <a:rPr lang="en-GB" b="0" i="1" smtClean="0">
                            <a:latin typeface="Cambria Math" panose="02040503050406030204" pitchFamily="18" charset="0"/>
                            <a:ea typeface="Cambria Math" panose="02040503050406030204" pitchFamily="18" charset="0"/>
                          </a:rPr>
                          <m:t>∞</m:t>
                        </m:r>
                      </m:sup>
                      <m:e>
                        <m:r>
                          <a:rPr lang="en-GB" b="0" i="1" smtClean="0">
                            <a:latin typeface="Cambria Math" panose="02040503050406030204" pitchFamily="18" charset="0"/>
                          </a:rPr>
                          <m:t>𝑚</m:t>
                        </m:r>
                        <m:r>
                          <a:rPr lang="en-GB" b="0" i="1" smtClean="0">
                            <a:latin typeface="Cambria Math" panose="02040503050406030204" pitchFamily="18" charset="0"/>
                          </a:rPr>
                          <m:t>(</m:t>
                        </m:r>
                        <m:r>
                          <a:rPr lang="en-GB" b="0" i="1" smtClean="0">
                            <a:latin typeface="Cambria Math" panose="02040503050406030204" pitchFamily="18" charset="0"/>
                          </a:rPr>
                          <m:t>𝑛</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𝑇</m:t>
                            </m:r>
                          </m:e>
                          <m:sub>
                            <m:r>
                              <a:rPr lang="en-GB" b="0" i="1" smtClean="0">
                                <a:latin typeface="Cambria Math" panose="02040503050406030204" pitchFamily="18" charset="0"/>
                              </a:rPr>
                              <m:t>𝑠</m:t>
                            </m:r>
                          </m:sub>
                        </m:sSub>
                        <m:r>
                          <a:rPr lang="en-GB" b="0" i="1" smtClean="0">
                            <a:latin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𝛿</m:t>
                        </m:r>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𝑡</m:t>
                        </m:r>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𝑛</m:t>
                        </m:r>
                        <m:sSub>
                          <m:sSubPr>
                            <m:ctrlPr>
                              <a:rPr lang="en-GB" b="0" i="1" smtClean="0">
                                <a:latin typeface="Cambria Math" panose="02040503050406030204" pitchFamily="18" charset="0"/>
                                <a:ea typeface="Cambria Math" panose="02040503050406030204" pitchFamily="18" charset="0"/>
                              </a:rPr>
                            </m:ctrlPr>
                          </m:sSubPr>
                          <m:e>
                            <m:r>
                              <a:rPr lang="en-GB" b="0" i="1" smtClean="0">
                                <a:latin typeface="Cambria Math" panose="02040503050406030204" pitchFamily="18" charset="0"/>
                                <a:ea typeface="Cambria Math" panose="02040503050406030204" pitchFamily="18" charset="0"/>
                              </a:rPr>
                              <m:t>𝑇</m:t>
                            </m:r>
                          </m:e>
                          <m:sub>
                            <m:r>
                              <a:rPr lang="en-GB" b="0" i="1" smtClean="0">
                                <a:latin typeface="Cambria Math" panose="02040503050406030204" pitchFamily="18" charset="0"/>
                                <a:ea typeface="Cambria Math" panose="02040503050406030204" pitchFamily="18" charset="0"/>
                              </a:rPr>
                              <m:t>𝑠</m:t>
                            </m:r>
                          </m:sub>
                        </m:sSub>
                        <m:r>
                          <a:rPr lang="en-GB" b="0" i="1" smtClean="0">
                            <a:latin typeface="Cambria Math" panose="02040503050406030204" pitchFamily="18" charset="0"/>
                            <a:ea typeface="Cambria Math" panose="02040503050406030204" pitchFamily="18" charset="0"/>
                          </a:rPr>
                          <m:t>)</m:t>
                        </m:r>
                      </m:e>
                    </m:nary>
                  </m:oMath>
                </a14:m>
                <a:r>
                  <a:rPr lang="en-GB" dirty="0"/>
                  <a:t>										(3)</a:t>
                </a:r>
              </a:p>
              <a:p>
                <a:pPr marL="36900" indent="0">
                  <a:buNone/>
                </a:pPr>
                <a:endParaRPr lang="en-GB" dirty="0"/>
              </a:p>
              <a:p>
                <a:pPr marL="36900" indent="0">
                  <a:buNone/>
                </a:pPr>
                <a:r>
                  <a:rPr lang="en-GB" dirty="0"/>
                  <a:t>Where </a:t>
                </a:r>
                <a14:m>
                  <m:oMath xmlns:m="http://schemas.openxmlformats.org/officeDocument/2006/math">
                    <m:r>
                      <a:rPr lang="en-GB" i="1" smtClean="0">
                        <a:latin typeface="Cambria Math" panose="02040503050406030204" pitchFamily="18" charset="0"/>
                        <a:ea typeface="Cambria Math" panose="02040503050406030204" pitchFamily="18" charset="0"/>
                      </a:rPr>
                      <m:t>𝛿</m:t>
                    </m:r>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𝑡</m:t>
                    </m:r>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𝑛</m:t>
                    </m:r>
                    <m:sSub>
                      <m:sSubPr>
                        <m:ctrlPr>
                          <a:rPr lang="en-GB" b="0" i="1" smtClean="0">
                            <a:latin typeface="Cambria Math" panose="02040503050406030204" pitchFamily="18" charset="0"/>
                            <a:ea typeface="Cambria Math" panose="02040503050406030204" pitchFamily="18" charset="0"/>
                          </a:rPr>
                        </m:ctrlPr>
                      </m:sSubPr>
                      <m:e>
                        <m:r>
                          <a:rPr lang="en-GB" b="0" i="1" smtClean="0">
                            <a:latin typeface="Cambria Math" panose="02040503050406030204" pitchFamily="18" charset="0"/>
                            <a:ea typeface="Cambria Math" panose="02040503050406030204" pitchFamily="18" charset="0"/>
                          </a:rPr>
                          <m:t>𝑇</m:t>
                        </m:r>
                      </m:e>
                      <m:sub>
                        <m:r>
                          <a:rPr lang="en-GB" b="0" i="1" smtClean="0">
                            <a:latin typeface="Cambria Math" panose="02040503050406030204" pitchFamily="18" charset="0"/>
                            <a:ea typeface="Cambria Math" panose="02040503050406030204" pitchFamily="18" charset="0"/>
                          </a:rPr>
                          <m:t>𝑠</m:t>
                        </m:r>
                      </m:sub>
                    </m:sSub>
                    <m:r>
                      <a:rPr lang="en-GB" b="0" i="1" smtClean="0">
                        <a:latin typeface="Cambria Math" panose="02040503050406030204" pitchFamily="18" charset="0"/>
                        <a:ea typeface="Cambria Math" panose="02040503050406030204" pitchFamily="18" charset="0"/>
                      </a:rPr>
                      <m:t>)</m:t>
                    </m:r>
                  </m:oMath>
                </a14:m>
                <a:r>
                  <a:rPr lang="en-GB" dirty="0"/>
                  <a:t> is a time-shifted delta function. Therefore, convolving </a:t>
                </a:r>
                <a14:m>
                  <m:oMath xmlns:m="http://schemas.openxmlformats.org/officeDocument/2006/math">
                    <m:sSub>
                      <m:sSubPr>
                        <m:ctrlPr>
                          <a:rPr lang="en-GB" i="1" smtClean="0">
                            <a:latin typeface="Cambria Math" panose="02040503050406030204" pitchFamily="18" charset="0"/>
                          </a:rPr>
                        </m:ctrlPr>
                      </m:sSubPr>
                      <m:e>
                        <m:r>
                          <a:rPr lang="en-GB" b="0" i="1" smtClean="0">
                            <a:latin typeface="Cambria Math" panose="02040503050406030204" pitchFamily="18" charset="0"/>
                          </a:rPr>
                          <m:t>𝑚</m:t>
                        </m:r>
                      </m:e>
                      <m:sub>
                        <m:r>
                          <a:rPr lang="en-GB" i="1" smtClean="0">
                            <a:latin typeface="Cambria Math" panose="02040503050406030204" pitchFamily="18" charset="0"/>
                            <a:ea typeface="Cambria Math" panose="02040503050406030204" pitchFamily="18" charset="0"/>
                          </a:rPr>
                          <m:t>𝛿</m:t>
                        </m:r>
                      </m:sub>
                    </m:sSub>
                    <m:r>
                      <a:rPr lang="en-GB" b="0" i="1" smtClean="0">
                        <a:latin typeface="Cambria Math" panose="02040503050406030204" pitchFamily="18" charset="0"/>
                      </a:rPr>
                      <m:t>(</m:t>
                    </m:r>
                    <m:r>
                      <a:rPr lang="en-GB" b="0" i="1" smtClean="0">
                        <a:latin typeface="Cambria Math" panose="02040503050406030204" pitchFamily="18" charset="0"/>
                      </a:rPr>
                      <m:t>𝑡</m:t>
                    </m:r>
                    <m:r>
                      <a:rPr lang="en-GB" b="0" i="1" smtClean="0">
                        <a:latin typeface="Cambria Math" panose="02040503050406030204" pitchFamily="18" charset="0"/>
                      </a:rPr>
                      <m:t>)</m:t>
                    </m:r>
                  </m:oMath>
                </a14:m>
                <a:r>
                  <a:rPr lang="en-GB" dirty="0"/>
                  <a:t> with the pulse h(t), we get</a:t>
                </a:r>
              </a:p>
              <a:p>
                <a:pPr marL="36900" indent="0">
                  <a:buNone/>
                </a:pPr>
                <a14:m>
                  <m:oMathPara xmlns:m="http://schemas.openxmlformats.org/officeDocument/2006/math">
                    <m:oMathParaPr>
                      <m:jc m:val="centerGroup"/>
                    </m:oMathParaPr>
                    <m:oMath xmlns:m="http://schemas.openxmlformats.org/officeDocument/2006/math">
                      <m:sSub>
                        <m:sSubPr>
                          <m:ctrlPr>
                            <a:rPr lang="en-GB" i="1" smtClean="0">
                              <a:latin typeface="Cambria Math" panose="02040503050406030204" pitchFamily="18" charset="0"/>
                            </a:rPr>
                          </m:ctrlPr>
                        </m:sSubPr>
                        <m:e>
                          <m:r>
                            <a:rPr lang="en-GB" b="0" i="1" smtClean="0">
                              <a:latin typeface="Cambria Math" panose="02040503050406030204" pitchFamily="18" charset="0"/>
                            </a:rPr>
                            <m:t>𝑚</m:t>
                          </m:r>
                        </m:e>
                        <m:sub>
                          <m:r>
                            <a:rPr lang="en-GB" i="1" smtClean="0">
                              <a:latin typeface="Cambria Math" panose="02040503050406030204" pitchFamily="18" charset="0"/>
                              <a:ea typeface="Cambria Math" panose="02040503050406030204" pitchFamily="18" charset="0"/>
                            </a:rPr>
                            <m:t>𝛿</m:t>
                          </m:r>
                        </m:sub>
                      </m:sSub>
                      <m:r>
                        <a:rPr lang="en-GB" b="0" i="1" smtClean="0">
                          <a:latin typeface="Cambria Math" panose="02040503050406030204" pitchFamily="18" charset="0"/>
                        </a:rPr>
                        <m:t>∗</m:t>
                      </m:r>
                      <m:r>
                        <a:rPr lang="en-GB" b="0" i="1" smtClean="0">
                          <a:latin typeface="Cambria Math" panose="02040503050406030204" pitchFamily="18" charset="0"/>
                        </a:rPr>
                        <m:t>h</m:t>
                      </m:r>
                      <m:d>
                        <m:dPr>
                          <m:ctrlPr>
                            <a:rPr lang="en-GB" b="0" i="1" smtClean="0">
                              <a:latin typeface="Cambria Math" panose="02040503050406030204" pitchFamily="18" charset="0"/>
                            </a:rPr>
                          </m:ctrlPr>
                        </m:dPr>
                        <m:e>
                          <m:r>
                            <a:rPr lang="en-GB" b="0" i="1" smtClean="0">
                              <a:latin typeface="Cambria Math" panose="02040503050406030204" pitchFamily="18" charset="0"/>
                            </a:rPr>
                            <m:t>𝑡</m:t>
                          </m:r>
                        </m:e>
                      </m:d>
                      <m:r>
                        <a:rPr lang="en-GB" b="0" i="1" smtClean="0">
                          <a:latin typeface="Cambria Math" panose="02040503050406030204" pitchFamily="18" charset="0"/>
                        </a:rPr>
                        <m:t>= </m:t>
                      </m:r>
                      <m:nary>
                        <m:naryPr>
                          <m:ctrlPr>
                            <a:rPr lang="en-GB" b="0" i="1" smtClean="0">
                              <a:latin typeface="Cambria Math" panose="02040503050406030204" pitchFamily="18" charset="0"/>
                            </a:rPr>
                          </m:ctrlPr>
                        </m:naryPr>
                        <m:sub>
                          <m:r>
                            <m:rPr>
                              <m:brk m:alnAt="23"/>
                            </m:rPr>
                            <a:rPr lang="en-GB" b="0" i="1" smtClean="0">
                              <a:latin typeface="Cambria Math" panose="02040503050406030204" pitchFamily="18" charset="0"/>
                            </a:rPr>
                            <m:t>−</m:t>
                          </m:r>
                          <m:r>
                            <a:rPr lang="en-GB" i="1">
                              <a:latin typeface="Cambria Math" panose="02040503050406030204" pitchFamily="18" charset="0"/>
                              <a:ea typeface="Cambria Math" panose="02040503050406030204" pitchFamily="18" charset="0"/>
                            </a:rPr>
                            <m:t>∞</m:t>
                          </m:r>
                        </m:sub>
                        <m:sup>
                          <m:r>
                            <a:rPr lang="en-GB" b="0" i="1" smtClean="0">
                              <a:latin typeface="Cambria Math" panose="02040503050406030204" pitchFamily="18" charset="0"/>
                              <a:ea typeface="Cambria Math" panose="02040503050406030204" pitchFamily="18" charset="0"/>
                            </a:rPr>
                            <m:t>∞</m:t>
                          </m:r>
                        </m:sup>
                        <m:e>
                          <m:sSub>
                            <m:sSubPr>
                              <m:ctrlPr>
                                <a:rPr lang="en-GB" b="0" i="1" smtClean="0">
                                  <a:latin typeface="Cambria Math" panose="02040503050406030204" pitchFamily="18" charset="0"/>
                                </a:rPr>
                              </m:ctrlPr>
                            </m:sSubPr>
                            <m:e>
                              <m:r>
                                <a:rPr lang="en-GB" b="0" i="1" smtClean="0">
                                  <a:latin typeface="Cambria Math" panose="02040503050406030204" pitchFamily="18" charset="0"/>
                                </a:rPr>
                                <m:t>𝑚</m:t>
                              </m:r>
                            </m:e>
                            <m:sub>
                              <m:r>
                                <a:rPr lang="en-GB" b="0" i="1" smtClean="0">
                                  <a:latin typeface="Cambria Math" panose="02040503050406030204" pitchFamily="18" charset="0"/>
                                  <a:ea typeface="Cambria Math" panose="02040503050406030204" pitchFamily="18" charset="0"/>
                                </a:rPr>
                                <m:t>𝛿</m:t>
                              </m:r>
                            </m:sub>
                          </m:sSub>
                          <m:d>
                            <m:dPr>
                              <m:ctrlPr>
                                <a:rPr lang="en-GB" b="0" i="1" smtClean="0">
                                  <a:latin typeface="Cambria Math" panose="02040503050406030204" pitchFamily="18" charset="0"/>
                                </a:rPr>
                              </m:ctrlPr>
                            </m:dPr>
                            <m:e>
                              <m:r>
                                <a:rPr lang="en-GB" b="0" i="1" smtClean="0">
                                  <a:latin typeface="Cambria Math" panose="02040503050406030204" pitchFamily="18" charset="0"/>
                                  <a:ea typeface="Cambria Math" panose="02040503050406030204" pitchFamily="18" charset="0"/>
                                </a:rPr>
                                <m:t>𝜏</m:t>
                              </m:r>
                            </m:e>
                          </m:d>
                          <m:r>
                            <a:rPr lang="en-GB" b="0" i="1" smtClean="0">
                              <a:latin typeface="Cambria Math" panose="02040503050406030204" pitchFamily="18" charset="0"/>
                            </a:rPr>
                            <m:t>h</m:t>
                          </m:r>
                          <m:r>
                            <a:rPr lang="en-GB" b="0" i="1" smtClean="0">
                              <a:latin typeface="Cambria Math" panose="02040503050406030204" pitchFamily="18" charset="0"/>
                            </a:rPr>
                            <m:t>(</m:t>
                          </m:r>
                          <m:r>
                            <a:rPr lang="en-GB" b="0" i="1" smtClean="0">
                              <a:latin typeface="Cambria Math" panose="02040503050406030204" pitchFamily="18" charset="0"/>
                            </a:rPr>
                            <m:t>𝑡</m:t>
                          </m:r>
                          <m:r>
                            <a:rPr lang="en-GB" b="0" i="1" smtClean="0">
                              <a:latin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𝜏</m:t>
                          </m:r>
                          <m:r>
                            <a:rPr lang="en-GB" b="0" i="1" smtClean="0">
                              <a:latin typeface="Cambria Math" panose="02040503050406030204" pitchFamily="18" charset="0"/>
                              <a:ea typeface="Cambria Math" panose="02040503050406030204" pitchFamily="18" charset="0"/>
                            </a:rPr>
                            <m:t>)</m:t>
                          </m:r>
                          <m:sSub>
                            <m:sSubPr>
                              <m:ctrlPr>
                                <a:rPr lang="en-GB" b="0" i="1" smtClean="0">
                                  <a:latin typeface="Cambria Math" panose="02040503050406030204" pitchFamily="18" charset="0"/>
                                  <a:ea typeface="Cambria Math" panose="02040503050406030204" pitchFamily="18" charset="0"/>
                                </a:rPr>
                              </m:ctrlPr>
                            </m:sSubPr>
                            <m:e>
                              <m:r>
                                <a:rPr lang="en-GB" b="0" i="1" smtClean="0">
                                  <a:latin typeface="Cambria Math" panose="02040503050406030204" pitchFamily="18" charset="0"/>
                                  <a:ea typeface="Cambria Math" panose="02040503050406030204" pitchFamily="18" charset="0"/>
                                </a:rPr>
                                <m:t>𝑑</m:t>
                              </m:r>
                            </m:e>
                            <m:sub>
                              <m:r>
                                <a:rPr lang="en-GB" b="0" i="1" smtClean="0">
                                  <a:latin typeface="Cambria Math" panose="02040503050406030204" pitchFamily="18" charset="0"/>
                                  <a:ea typeface="Cambria Math" panose="02040503050406030204" pitchFamily="18" charset="0"/>
                                </a:rPr>
                                <m:t>𝜏</m:t>
                              </m:r>
                            </m:sub>
                          </m:sSub>
                        </m:e>
                      </m:nary>
                    </m:oMath>
                  </m:oMathPara>
                </a14:m>
                <a:endParaRPr lang="en-GB" dirty="0"/>
              </a:p>
              <a:p>
                <a:pPr marL="36900" indent="0">
                  <a:buNone/>
                </a:pPr>
                <a:r>
                  <a:rPr lang="en-GB" dirty="0"/>
                  <a:t>									=</a:t>
                </a:r>
                <a14:m>
                  <m:oMath xmlns:m="http://schemas.openxmlformats.org/officeDocument/2006/math">
                    <m:nary>
                      <m:naryPr>
                        <m:ctrlPr>
                          <a:rPr lang="en-GB" i="1" smtClean="0">
                            <a:latin typeface="Cambria Math" panose="02040503050406030204" pitchFamily="18" charset="0"/>
                          </a:rPr>
                        </m:ctrlPr>
                      </m:naryPr>
                      <m:sub>
                        <m:r>
                          <m:rPr>
                            <m:brk m:alnAt="23"/>
                          </m:rPr>
                          <a:rPr lang="en-GB" b="0" i="1" smtClean="0">
                            <a:latin typeface="Cambria Math" panose="02040503050406030204" pitchFamily="18" charset="0"/>
                          </a:rPr>
                          <m:t>−</m:t>
                        </m:r>
                        <m:r>
                          <a:rPr lang="en-GB" b="0" i="1" smtClean="0">
                            <a:latin typeface="Cambria Math" panose="02040503050406030204" pitchFamily="18" charset="0"/>
                            <a:ea typeface="Cambria Math" panose="02040503050406030204" pitchFamily="18" charset="0"/>
                          </a:rPr>
                          <m:t>∞</m:t>
                        </m:r>
                      </m:sub>
                      <m:sup>
                        <m:r>
                          <a:rPr lang="en-GB" i="1" smtClean="0">
                            <a:latin typeface="Cambria Math" panose="02040503050406030204" pitchFamily="18" charset="0"/>
                            <a:ea typeface="Cambria Math" panose="02040503050406030204" pitchFamily="18" charset="0"/>
                          </a:rPr>
                          <m:t>∞</m:t>
                        </m:r>
                      </m:sup>
                      <m:e>
                        <m:nary>
                          <m:naryPr>
                            <m:chr m:val="∑"/>
                            <m:ctrlPr>
                              <a:rPr lang="en-GB" i="1" smtClean="0">
                                <a:latin typeface="Cambria Math" panose="02040503050406030204" pitchFamily="18" charset="0"/>
                              </a:rPr>
                            </m:ctrlPr>
                          </m:naryPr>
                          <m:sub>
                            <m:r>
                              <m:rPr>
                                <m:brk m:alnAt="23"/>
                              </m:rPr>
                              <a:rPr lang="en-GB" b="0" i="1" smtClean="0">
                                <a:latin typeface="Cambria Math" panose="02040503050406030204" pitchFamily="18" charset="0"/>
                              </a:rPr>
                              <m:t>𝑛</m:t>
                            </m:r>
                            <m:r>
                              <a:rPr lang="en-GB" b="0" i="1" smtClean="0">
                                <a:latin typeface="Cambria Math" panose="02040503050406030204" pitchFamily="18" charset="0"/>
                              </a:rPr>
                              <m:t>=−∞</m:t>
                            </m:r>
                          </m:sub>
                          <m:sup>
                            <m:r>
                              <a:rPr lang="en-GB" i="1" smtClean="0">
                                <a:latin typeface="Cambria Math" panose="02040503050406030204" pitchFamily="18" charset="0"/>
                                <a:ea typeface="Cambria Math" panose="02040503050406030204" pitchFamily="18" charset="0"/>
                              </a:rPr>
                              <m:t>∞</m:t>
                            </m:r>
                          </m:sup>
                          <m:e>
                            <m:r>
                              <a:rPr lang="en-GB" b="0" i="1" smtClean="0">
                                <a:latin typeface="Cambria Math" panose="02040503050406030204" pitchFamily="18" charset="0"/>
                              </a:rPr>
                              <m:t>𝑚</m:t>
                            </m:r>
                            <m:d>
                              <m:dPr>
                                <m:ctrlPr>
                                  <a:rPr lang="en-GB" b="0" i="1" smtClean="0">
                                    <a:latin typeface="Cambria Math" panose="02040503050406030204" pitchFamily="18" charset="0"/>
                                  </a:rPr>
                                </m:ctrlPr>
                              </m:dPr>
                              <m:e>
                                <m:r>
                                  <a:rPr lang="en-GB" b="0" i="1" smtClean="0">
                                    <a:latin typeface="Cambria Math" panose="02040503050406030204" pitchFamily="18" charset="0"/>
                                  </a:rPr>
                                  <m:t>𝑛</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𝑇</m:t>
                                    </m:r>
                                  </m:e>
                                  <m:sub>
                                    <m:r>
                                      <a:rPr lang="en-GB" b="0" i="1" smtClean="0">
                                        <a:latin typeface="Cambria Math" panose="02040503050406030204" pitchFamily="18" charset="0"/>
                                      </a:rPr>
                                      <m:t>𝑠</m:t>
                                    </m:r>
                                  </m:sub>
                                </m:sSub>
                              </m:e>
                            </m:d>
                            <m:r>
                              <a:rPr lang="en-GB" b="0" i="1" smtClean="0">
                                <a:latin typeface="Cambria Math" panose="02040503050406030204" pitchFamily="18" charset="0"/>
                                <a:ea typeface="Cambria Math" panose="02040503050406030204" pitchFamily="18" charset="0"/>
                              </a:rPr>
                              <m:t>𝛿</m:t>
                            </m:r>
                            <m:d>
                              <m:dPr>
                                <m:ctrlPr>
                                  <a:rPr lang="en-GB" b="0" i="1" smtClean="0">
                                    <a:latin typeface="Cambria Math" panose="02040503050406030204" pitchFamily="18" charset="0"/>
                                    <a:ea typeface="Cambria Math" panose="02040503050406030204" pitchFamily="18" charset="0"/>
                                  </a:rPr>
                                </m:ctrlPr>
                              </m:dPr>
                              <m:e>
                                <m:r>
                                  <a:rPr lang="en-GB" b="0" i="1" smtClean="0">
                                    <a:latin typeface="Cambria Math" panose="02040503050406030204" pitchFamily="18" charset="0"/>
                                    <a:ea typeface="Cambria Math" panose="02040503050406030204" pitchFamily="18" charset="0"/>
                                  </a:rPr>
                                  <m:t>𝜏</m:t>
                                </m:r>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𝑛</m:t>
                                </m:r>
                                <m:sSub>
                                  <m:sSubPr>
                                    <m:ctrlPr>
                                      <a:rPr lang="en-GB" b="0" i="1" smtClean="0">
                                        <a:latin typeface="Cambria Math" panose="02040503050406030204" pitchFamily="18" charset="0"/>
                                        <a:ea typeface="Cambria Math" panose="02040503050406030204" pitchFamily="18" charset="0"/>
                                      </a:rPr>
                                    </m:ctrlPr>
                                  </m:sSubPr>
                                  <m:e>
                                    <m:r>
                                      <a:rPr lang="en-GB" b="0" i="1" smtClean="0">
                                        <a:latin typeface="Cambria Math" panose="02040503050406030204" pitchFamily="18" charset="0"/>
                                        <a:ea typeface="Cambria Math" panose="02040503050406030204" pitchFamily="18" charset="0"/>
                                      </a:rPr>
                                      <m:t>𝑇</m:t>
                                    </m:r>
                                  </m:e>
                                  <m:sub>
                                    <m:r>
                                      <a:rPr lang="en-GB" b="0" i="1" smtClean="0">
                                        <a:latin typeface="Cambria Math" panose="02040503050406030204" pitchFamily="18" charset="0"/>
                                        <a:ea typeface="Cambria Math" panose="02040503050406030204" pitchFamily="18" charset="0"/>
                                      </a:rPr>
                                      <m:t>𝑠</m:t>
                                    </m:r>
                                  </m:sub>
                                </m:sSub>
                              </m:e>
                            </m:d>
                            <m:r>
                              <a:rPr lang="en-GB" b="0" i="1" smtClean="0">
                                <a:latin typeface="Cambria Math" panose="02040503050406030204" pitchFamily="18" charset="0"/>
                                <a:ea typeface="Cambria Math" panose="02040503050406030204" pitchFamily="18" charset="0"/>
                              </a:rPr>
                              <m:t>h</m:t>
                            </m:r>
                            <m:d>
                              <m:dPr>
                                <m:ctrlPr>
                                  <a:rPr lang="en-GB" b="0" i="1" smtClean="0">
                                    <a:latin typeface="Cambria Math" panose="02040503050406030204" pitchFamily="18" charset="0"/>
                                    <a:ea typeface="Cambria Math" panose="02040503050406030204" pitchFamily="18" charset="0"/>
                                  </a:rPr>
                                </m:ctrlPr>
                              </m:dPr>
                              <m:e>
                                <m:r>
                                  <a:rPr lang="en-GB" b="0" i="1" smtClean="0">
                                    <a:latin typeface="Cambria Math" panose="02040503050406030204" pitchFamily="18" charset="0"/>
                                    <a:ea typeface="Cambria Math" panose="02040503050406030204" pitchFamily="18" charset="0"/>
                                  </a:rPr>
                                  <m:t>𝑡</m:t>
                                </m:r>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𝜏</m:t>
                                </m:r>
                              </m:e>
                            </m:d>
                            <m:sSub>
                              <m:sSubPr>
                                <m:ctrlPr>
                                  <a:rPr lang="en-GB" b="0" i="1" smtClean="0">
                                    <a:latin typeface="Cambria Math" panose="02040503050406030204" pitchFamily="18" charset="0"/>
                                    <a:ea typeface="Cambria Math" panose="02040503050406030204" pitchFamily="18" charset="0"/>
                                  </a:rPr>
                                </m:ctrlPr>
                              </m:sSubPr>
                              <m:e>
                                <m:r>
                                  <a:rPr lang="en-GB" b="0" i="1" smtClean="0">
                                    <a:latin typeface="Cambria Math" panose="02040503050406030204" pitchFamily="18" charset="0"/>
                                    <a:ea typeface="Cambria Math" panose="02040503050406030204" pitchFamily="18" charset="0"/>
                                  </a:rPr>
                                  <m:t>𝑑</m:t>
                                </m:r>
                              </m:e>
                              <m:sub>
                                <m:r>
                                  <a:rPr lang="en-GB" b="0" i="1" smtClean="0">
                                    <a:latin typeface="Cambria Math" panose="02040503050406030204" pitchFamily="18" charset="0"/>
                                    <a:ea typeface="Cambria Math" panose="02040503050406030204" pitchFamily="18" charset="0"/>
                                  </a:rPr>
                                  <m:t>𝜏</m:t>
                                </m:r>
                              </m:sub>
                            </m:sSub>
                          </m:e>
                        </m:nary>
                      </m:e>
                    </m:nary>
                  </m:oMath>
                </a14:m>
                <a:endParaRPr lang="en-GB" dirty="0"/>
              </a:p>
              <a:p>
                <a:pPr marL="36900" indent="0">
                  <a:buNone/>
                </a:pPr>
                <a:r>
                  <a:rPr lang="en-GB" dirty="0"/>
                  <a:t>									=</a:t>
                </a:r>
                <a14:m>
                  <m:oMath xmlns:m="http://schemas.openxmlformats.org/officeDocument/2006/math">
                    <m:nary>
                      <m:naryPr>
                        <m:chr m:val="∑"/>
                        <m:ctrlPr>
                          <a:rPr lang="en-GB" i="1" smtClean="0">
                            <a:latin typeface="Cambria Math" panose="02040503050406030204" pitchFamily="18" charset="0"/>
                          </a:rPr>
                        </m:ctrlPr>
                      </m:naryPr>
                      <m:sub>
                        <m:r>
                          <m:rPr>
                            <m:brk m:alnAt="23"/>
                          </m:rPr>
                          <a:rPr lang="en-GB" b="0" i="1" smtClean="0">
                            <a:latin typeface="Cambria Math" panose="02040503050406030204" pitchFamily="18" charset="0"/>
                          </a:rPr>
                          <m:t>𝑛</m:t>
                        </m:r>
                        <m:r>
                          <a:rPr lang="en-GB" b="0" i="1" smtClean="0">
                            <a:latin typeface="Cambria Math" panose="02040503050406030204" pitchFamily="18" charset="0"/>
                          </a:rPr>
                          <m:t>=−∞</m:t>
                        </m:r>
                      </m:sub>
                      <m:sup>
                        <m:r>
                          <a:rPr lang="en-GB" i="1" smtClean="0">
                            <a:latin typeface="Cambria Math" panose="02040503050406030204" pitchFamily="18" charset="0"/>
                            <a:ea typeface="Cambria Math" panose="02040503050406030204" pitchFamily="18" charset="0"/>
                          </a:rPr>
                          <m:t>∞</m:t>
                        </m:r>
                      </m:sup>
                      <m:e>
                        <m:r>
                          <a:rPr lang="en-GB" b="0" i="1" smtClean="0">
                            <a:latin typeface="Cambria Math" panose="02040503050406030204" pitchFamily="18" charset="0"/>
                          </a:rPr>
                          <m:t>𝑚</m:t>
                        </m:r>
                        <m:r>
                          <a:rPr lang="en-GB" b="0" i="1" smtClean="0">
                            <a:latin typeface="Cambria Math" panose="02040503050406030204" pitchFamily="18" charset="0"/>
                          </a:rPr>
                          <m:t>(</m:t>
                        </m:r>
                        <m:r>
                          <a:rPr lang="en-GB" b="0" i="1" smtClean="0">
                            <a:latin typeface="Cambria Math" panose="02040503050406030204" pitchFamily="18" charset="0"/>
                          </a:rPr>
                          <m:t>𝑛</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𝑇</m:t>
                            </m:r>
                          </m:e>
                          <m:sub>
                            <m:r>
                              <a:rPr lang="en-GB" b="0" i="1" smtClean="0">
                                <a:latin typeface="Cambria Math" panose="02040503050406030204" pitchFamily="18" charset="0"/>
                              </a:rPr>
                              <m:t>𝑠</m:t>
                            </m:r>
                          </m:sub>
                        </m:sSub>
                        <m:r>
                          <a:rPr lang="en-GB" b="0" i="1" smtClean="0">
                            <a:latin typeface="Cambria Math" panose="02040503050406030204" pitchFamily="18" charset="0"/>
                          </a:rPr>
                          <m:t>)</m:t>
                        </m:r>
                      </m:e>
                    </m:nary>
                    <m:nary>
                      <m:naryPr>
                        <m:ctrlPr>
                          <a:rPr lang="en-GB" i="1" smtClean="0">
                            <a:latin typeface="Cambria Math" panose="02040503050406030204" pitchFamily="18" charset="0"/>
                          </a:rPr>
                        </m:ctrlPr>
                      </m:naryPr>
                      <m:sub>
                        <m:r>
                          <m:rPr>
                            <m:brk m:alnAt="23"/>
                          </m:rPr>
                          <a:rPr lang="en-GB" b="0" i="1" smtClean="0">
                            <a:latin typeface="Cambria Math" panose="02040503050406030204" pitchFamily="18" charset="0"/>
                          </a:rPr>
                          <m:t>−</m:t>
                        </m:r>
                        <m:r>
                          <a:rPr lang="en-GB" b="0" i="1" smtClean="0">
                            <a:latin typeface="Cambria Math" panose="02040503050406030204" pitchFamily="18" charset="0"/>
                            <a:ea typeface="Cambria Math" panose="02040503050406030204" pitchFamily="18" charset="0"/>
                          </a:rPr>
                          <m:t>∞</m:t>
                        </m:r>
                      </m:sub>
                      <m:sup>
                        <m:r>
                          <a:rPr lang="en-GB" i="1" smtClean="0">
                            <a:latin typeface="Cambria Math" panose="02040503050406030204" pitchFamily="18" charset="0"/>
                            <a:ea typeface="Cambria Math" panose="02040503050406030204" pitchFamily="18" charset="0"/>
                          </a:rPr>
                          <m:t>∞</m:t>
                        </m:r>
                      </m:sup>
                      <m:e>
                        <m:r>
                          <a:rPr lang="en-GB" i="1" smtClean="0">
                            <a:latin typeface="Cambria Math" panose="02040503050406030204" pitchFamily="18" charset="0"/>
                            <a:ea typeface="Cambria Math" panose="02040503050406030204" pitchFamily="18" charset="0"/>
                          </a:rPr>
                          <m:t>𝛿</m:t>
                        </m:r>
                        <m:d>
                          <m:dPr>
                            <m:ctrlPr>
                              <a:rPr lang="en-GB" b="0" i="1" smtClean="0">
                                <a:latin typeface="Cambria Math" panose="02040503050406030204" pitchFamily="18" charset="0"/>
                                <a:ea typeface="Cambria Math" panose="02040503050406030204" pitchFamily="18" charset="0"/>
                              </a:rPr>
                            </m:ctrlPr>
                          </m:dPr>
                          <m:e>
                            <m:r>
                              <a:rPr lang="en-GB" b="0" i="1" smtClean="0">
                                <a:latin typeface="Cambria Math" panose="02040503050406030204" pitchFamily="18" charset="0"/>
                                <a:ea typeface="Cambria Math" panose="02040503050406030204" pitchFamily="18" charset="0"/>
                              </a:rPr>
                              <m:t>𝜏</m:t>
                            </m:r>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𝑛</m:t>
                            </m:r>
                            <m:sSub>
                              <m:sSubPr>
                                <m:ctrlPr>
                                  <a:rPr lang="en-GB" b="0" i="1" smtClean="0">
                                    <a:latin typeface="Cambria Math" panose="02040503050406030204" pitchFamily="18" charset="0"/>
                                    <a:ea typeface="Cambria Math" panose="02040503050406030204" pitchFamily="18" charset="0"/>
                                  </a:rPr>
                                </m:ctrlPr>
                              </m:sSubPr>
                              <m:e>
                                <m:r>
                                  <a:rPr lang="en-GB" b="0" i="1" smtClean="0">
                                    <a:latin typeface="Cambria Math" panose="02040503050406030204" pitchFamily="18" charset="0"/>
                                    <a:ea typeface="Cambria Math" panose="02040503050406030204" pitchFamily="18" charset="0"/>
                                  </a:rPr>
                                  <m:t>𝑇</m:t>
                                </m:r>
                              </m:e>
                              <m:sub>
                                <m:r>
                                  <a:rPr lang="en-GB" b="0" i="1" smtClean="0">
                                    <a:latin typeface="Cambria Math" panose="02040503050406030204" pitchFamily="18" charset="0"/>
                                    <a:ea typeface="Cambria Math" panose="02040503050406030204" pitchFamily="18" charset="0"/>
                                  </a:rPr>
                                  <m:t>𝑠</m:t>
                                </m:r>
                              </m:sub>
                            </m:sSub>
                          </m:e>
                        </m:d>
                        <m:r>
                          <a:rPr lang="en-GB" b="0" i="1" smtClean="0">
                            <a:latin typeface="Cambria Math" panose="02040503050406030204" pitchFamily="18" charset="0"/>
                            <a:ea typeface="Cambria Math" panose="02040503050406030204" pitchFamily="18" charset="0"/>
                          </a:rPr>
                          <m:t>h</m:t>
                        </m:r>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𝑡</m:t>
                        </m:r>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𝜏</m:t>
                        </m:r>
                        <m:r>
                          <a:rPr lang="en-GB" b="0" i="1" smtClean="0">
                            <a:latin typeface="Cambria Math" panose="02040503050406030204" pitchFamily="18" charset="0"/>
                            <a:ea typeface="Cambria Math" panose="02040503050406030204" pitchFamily="18" charset="0"/>
                          </a:rPr>
                          <m:t>)</m:t>
                        </m:r>
                        <m:sSub>
                          <m:sSubPr>
                            <m:ctrlPr>
                              <a:rPr lang="en-GB" b="0" i="1" smtClean="0">
                                <a:latin typeface="Cambria Math" panose="02040503050406030204" pitchFamily="18" charset="0"/>
                                <a:ea typeface="Cambria Math" panose="02040503050406030204" pitchFamily="18" charset="0"/>
                              </a:rPr>
                            </m:ctrlPr>
                          </m:sSubPr>
                          <m:e>
                            <m:r>
                              <a:rPr lang="en-GB" b="0" i="1" smtClean="0">
                                <a:latin typeface="Cambria Math" panose="02040503050406030204" pitchFamily="18" charset="0"/>
                                <a:ea typeface="Cambria Math" panose="02040503050406030204" pitchFamily="18" charset="0"/>
                              </a:rPr>
                              <m:t>𝑑</m:t>
                            </m:r>
                          </m:e>
                          <m:sub>
                            <m:r>
                              <a:rPr lang="en-GB" b="0" i="1" smtClean="0">
                                <a:latin typeface="Cambria Math" panose="02040503050406030204" pitchFamily="18" charset="0"/>
                                <a:ea typeface="Cambria Math" panose="02040503050406030204" pitchFamily="18" charset="0"/>
                              </a:rPr>
                              <m:t>𝜏</m:t>
                            </m:r>
                          </m:sub>
                        </m:sSub>
                      </m:e>
                    </m:nary>
                  </m:oMath>
                </a14:m>
                <a:endParaRPr lang="en-GB" dirty="0"/>
              </a:p>
              <a:p>
                <a:pPr marL="36900" indent="0">
                  <a:buNone/>
                </a:pPr>
                <a:r>
                  <a:rPr lang="en-GB" dirty="0"/>
                  <a:t>																					(4)</a:t>
                </a:r>
              </a:p>
            </p:txBody>
          </p:sp>
        </mc:Choice>
        <mc:Fallback>
          <p:sp>
            <p:nvSpPr>
              <p:cNvPr id="3" name="Content Placeholder 2">
                <a:extLst>
                  <a:ext uri="{FF2B5EF4-FFF2-40B4-BE49-F238E27FC236}">
                    <a16:creationId xmlns:a16="http://schemas.microsoft.com/office/drawing/2014/main" id="{883624AF-AC0B-4F64-9C6A-AB4D7568D601}"/>
                  </a:ext>
                </a:extLst>
              </p:cNvPr>
              <p:cNvSpPr>
                <a:spLocks noGrp="1" noRot="1" noChangeAspect="1" noMove="1" noResize="1" noEditPoints="1" noAdjustHandles="1" noChangeArrowheads="1" noChangeShapeType="1" noTextEdit="1"/>
              </p:cNvSpPr>
              <p:nvPr>
                <p:ph idx="1"/>
              </p:nvPr>
            </p:nvSpPr>
            <p:spPr>
              <a:xfrm>
                <a:off x="919119" y="384810"/>
                <a:ext cx="10353762" cy="5719428"/>
              </a:xfrm>
              <a:blipFill>
                <a:blip r:embed="rId2"/>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8600877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D92CBE29-F723-48CF-8995-D3CF98B152DC}"/>
              </a:ext>
            </a:extLst>
          </p:cNvPr>
          <p:cNvSpPr>
            <a:spLocks noGrp="1"/>
          </p:cNvSpPr>
          <p:nvPr>
            <p:ph type="body" sz="half" idx="2"/>
          </p:nvPr>
        </p:nvSpPr>
        <p:spPr>
          <a:xfrm>
            <a:off x="919118" y="5189220"/>
            <a:ext cx="10353763" cy="1235710"/>
          </a:xfrm>
        </p:spPr>
        <p:txBody>
          <a:bodyPr/>
          <a:lstStyle/>
          <a:p>
            <a:r>
              <a:rPr lang="en-GB" dirty="0"/>
              <a:t>Figure (a) Rectangular pulse h(t)</a:t>
            </a:r>
            <a:r>
              <a:rPr lang="en-IN" dirty="0"/>
              <a:t> .  (b) Spectrum H(f), made up of the magnitude |H(f)|, and phase </a:t>
            </a:r>
            <a:r>
              <a:rPr lang="en-IN" dirty="0" err="1"/>
              <a:t>arg</a:t>
            </a:r>
            <a:r>
              <a:rPr lang="en-IN" dirty="0"/>
              <a:t>{H(f)}</a:t>
            </a:r>
            <a:endParaRPr lang="en-GB" dirty="0"/>
          </a:p>
        </p:txBody>
      </p:sp>
      <p:pic>
        <p:nvPicPr>
          <p:cNvPr id="9" name="Content Placeholder 8">
            <a:extLst>
              <a:ext uri="{FF2B5EF4-FFF2-40B4-BE49-F238E27FC236}">
                <a16:creationId xmlns:a16="http://schemas.microsoft.com/office/drawing/2014/main" id="{B3ABDC21-8C1A-4172-BC9D-799C3E182177}"/>
              </a:ext>
            </a:extLst>
          </p:cNvPr>
          <p:cNvPicPr>
            <a:picLocks noGrp="1" noChangeAspect="1"/>
          </p:cNvPicPr>
          <p:nvPr>
            <p:ph idx="4294967295"/>
          </p:nvPr>
        </p:nvPicPr>
        <p:blipFill>
          <a:blip r:embed="rId2"/>
          <a:stretch>
            <a:fillRect/>
          </a:stretch>
        </p:blipFill>
        <p:spPr>
          <a:xfrm>
            <a:off x="1060449" y="557205"/>
            <a:ext cx="10071100" cy="4756150"/>
          </a:xfrm>
        </p:spPr>
      </p:pic>
    </p:spTree>
    <p:extLst>
      <p:ext uri="{BB962C8B-B14F-4D97-AF65-F5344CB8AC3E}">
        <p14:creationId xmlns:p14="http://schemas.microsoft.com/office/powerpoint/2010/main" val="39445674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52A579E-CE11-40E9-AEC4-8206D80FF460}"/>
                  </a:ext>
                </a:extLst>
              </p:cNvPr>
              <p:cNvSpPr>
                <a:spLocks noGrp="1"/>
              </p:cNvSpPr>
              <p:nvPr>
                <p:ph idx="1"/>
              </p:nvPr>
            </p:nvSpPr>
            <p:spPr>
              <a:xfrm>
                <a:off x="919119" y="567690"/>
                <a:ext cx="10353762" cy="5487121"/>
              </a:xfrm>
            </p:spPr>
            <p:txBody>
              <a:bodyPr/>
              <a:lstStyle/>
              <a:p>
                <a:pPr marL="36900" indent="0">
                  <a:buNone/>
                </a:pPr>
                <a:r>
                  <a:rPr lang="en-GB" dirty="0"/>
                  <a:t>Using the shifting property of the delta function, we thus obtain</a:t>
                </a:r>
              </a:p>
              <a:p>
                <a:pPr marL="36900" indent="0">
                  <a:buNone/>
                </a:pP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𝑚</m:t>
                        </m:r>
                      </m:e>
                      <m:sub>
                        <m:r>
                          <a:rPr lang="en-GB" b="0" i="1" smtClean="0">
                            <a:latin typeface="Cambria Math" panose="02040503050406030204" pitchFamily="18" charset="0"/>
                          </a:rPr>
                          <m:t>𝞭</m:t>
                        </m:r>
                      </m:sub>
                    </m:sSub>
                  </m:oMath>
                </a14:m>
                <a:r>
                  <a:rPr lang="en-GB" dirty="0"/>
                  <a:t>(t) *b(T) = </a:t>
                </a:r>
                <a14:m>
                  <m:oMath xmlns:m="http://schemas.openxmlformats.org/officeDocument/2006/math">
                    <m:nary>
                      <m:naryPr>
                        <m:chr m:val="∑"/>
                        <m:ctrlPr>
                          <a:rPr lang="en-GB" i="1" smtClean="0">
                            <a:latin typeface="Cambria Math" panose="02040503050406030204" pitchFamily="18" charset="0"/>
                          </a:rPr>
                        </m:ctrlPr>
                      </m:naryPr>
                      <m:sub>
                        <m:r>
                          <m:rPr>
                            <m:brk m:alnAt="23"/>
                          </m:rPr>
                          <a:rPr lang="en-GB" b="0" i="1" smtClean="0">
                            <a:latin typeface="Cambria Math" panose="02040503050406030204" pitchFamily="18" charset="0"/>
                          </a:rPr>
                          <m:t>𝑛</m:t>
                        </m:r>
                        <m:r>
                          <a:rPr lang="en-GB" b="0" i="1" smtClean="0">
                            <a:latin typeface="Cambria Math" panose="02040503050406030204" pitchFamily="18" charset="0"/>
                          </a:rPr>
                          <m:t>=−∞</m:t>
                        </m:r>
                      </m:sub>
                      <m:sup>
                        <m:r>
                          <a:rPr lang="en-GB" i="1" smtClean="0">
                            <a:latin typeface="Cambria Math" panose="02040503050406030204" pitchFamily="18" charset="0"/>
                            <a:ea typeface="Cambria Math" panose="02040503050406030204" pitchFamily="18" charset="0"/>
                          </a:rPr>
                          <m:t>∞</m:t>
                        </m:r>
                      </m:sup>
                      <m:e>
                        <m:r>
                          <a:rPr lang="en-GB" b="0" i="1" smtClean="0">
                            <a:latin typeface="Cambria Math" panose="02040503050406030204" pitchFamily="18" charset="0"/>
                          </a:rPr>
                          <m:t>𝑚</m:t>
                        </m:r>
                        <m:d>
                          <m:dPr>
                            <m:ctrlPr>
                              <a:rPr lang="en-GB" b="0" i="1" smtClean="0">
                                <a:latin typeface="Cambria Math" panose="02040503050406030204" pitchFamily="18" charset="0"/>
                              </a:rPr>
                            </m:ctrlPr>
                          </m:dPr>
                          <m:e>
                            <m:r>
                              <a:rPr lang="en-GB" b="0" i="1" smtClean="0">
                                <a:latin typeface="Cambria Math" panose="02040503050406030204" pitchFamily="18" charset="0"/>
                              </a:rPr>
                              <m:t>𝑛</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𝑇</m:t>
                                </m:r>
                              </m:e>
                              <m:sub>
                                <m:r>
                                  <a:rPr lang="en-GB" b="0" i="1" smtClean="0">
                                    <a:latin typeface="Cambria Math" panose="02040503050406030204" pitchFamily="18" charset="0"/>
                                  </a:rPr>
                                  <m:t>𝑠</m:t>
                                </m:r>
                              </m:sub>
                            </m:sSub>
                          </m:e>
                        </m:d>
                        <m:r>
                          <a:rPr lang="en-GB" b="0" i="1" smtClean="0">
                            <a:latin typeface="Cambria Math" panose="02040503050406030204" pitchFamily="18" charset="0"/>
                          </a:rPr>
                          <m:t>h</m:t>
                        </m:r>
                        <m:r>
                          <a:rPr lang="en-GB" b="0" i="1" smtClean="0">
                            <a:latin typeface="Cambria Math" panose="02040503050406030204" pitchFamily="18" charset="0"/>
                          </a:rPr>
                          <m:t>(</m:t>
                        </m:r>
                        <m:r>
                          <a:rPr lang="en-GB" b="0" i="1" smtClean="0">
                            <a:latin typeface="Cambria Math" panose="02040503050406030204" pitchFamily="18" charset="0"/>
                          </a:rPr>
                          <m:t>𝑡</m:t>
                        </m:r>
                        <m:r>
                          <a:rPr lang="en-GB" b="0" i="1" smtClean="0">
                            <a:latin typeface="Cambria Math" panose="02040503050406030204" pitchFamily="18" charset="0"/>
                          </a:rPr>
                          <m:t>−</m:t>
                        </m:r>
                        <m:r>
                          <a:rPr lang="en-GB" b="0" i="1" smtClean="0">
                            <a:latin typeface="Cambria Math" panose="02040503050406030204" pitchFamily="18" charset="0"/>
                          </a:rPr>
                          <m:t>𝑛</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𝑇</m:t>
                            </m:r>
                          </m:e>
                          <m:sub>
                            <m:r>
                              <a:rPr lang="en-GB" b="0" i="1" smtClean="0">
                                <a:latin typeface="Cambria Math" panose="02040503050406030204" pitchFamily="18" charset="0"/>
                              </a:rPr>
                              <m:t>𝑠</m:t>
                            </m:r>
                          </m:sub>
                        </m:sSub>
                      </m:e>
                    </m:nary>
                    <m:r>
                      <a:rPr lang="en-GB" b="0" i="1" smtClean="0">
                        <a:latin typeface="Cambria Math" panose="02040503050406030204" pitchFamily="18" charset="0"/>
                      </a:rPr>
                      <m:t>)</m:t>
                    </m:r>
                  </m:oMath>
                </a14:m>
                <a:r>
                  <a:rPr lang="en-GB" dirty="0"/>
                  <a:t>							(5)</a:t>
                </a:r>
              </a:p>
              <a:p>
                <a:pPr marL="36900" indent="0">
                  <a:buNone/>
                </a:pPr>
                <a:r>
                  <a:rPr lang="en-IN" dirty="0"/>
                  <a:t>From equation (1) and (5) it follows that the PAM  signal s(t) is mathematically equivalent to the convolution n of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𝑚</m:t>
                        </m:r>
                      </m:e>
                      <m:sub>
                        <m:r>
                          <a:rPr lang="en-GB" i="1">
                            <a:latin typeface="Cambria Math" panose="02040503050406030204" pitchFamily="18" charset="0"/>
                          </a:rPr>
                          <m:t>𝞭</m:t>
                        </m:r>
                      </m:sub>
                    </m:sSub>
                  </m:oMath>
                </a14:m>
                <a:r>
                  <a:rPr lang="en-GB" dirty="0"/>
                  <a:t>(t), the instantaneously sampled version of m(t), and the pulse b</a:t>
                </a:r>
                <a:r>
                  <a:rPr lang="en-IN" dirty="0"/>
                  <a:t>(t), as shown by</a:t>
                </a:r>
              </a:p>
              <a:p>
                <a:pPr marL="36900" indent="0">
                  <a:buNone/>
                </a:pPr>
                <a:r>
                  <a:rPr lang="en-IN" dirty="0"/>
                  <a:t>s(t) = </a:t>
                </a:r>
                <a14:m>
                  <m:oMath xmlns:m="http://schemas.openxmlformats.org/officeDocument/2006/math">
                    <m:sSub>
                      <m:sSubPr>
                        <m:ctrlPr>
                          <a:rPr lang="en-IN" i="1" smtClean="0">
                            <a:latin typeface="Cambria Math" panose="02040503050406030204" pitchFamily="18" charset="0"/>
                          </a:rPr>
                        </m:ctrlPr>
                      </m:sSubPr>
                      <m:e>
                        <m:r>
                          <a:rPr lang="en-GB" b="0" i="1" smtClean="0">
                            <a:latin typeface="Cambria Math" panose="02040503050406030204" pitchFamily="18" charset="0"/>
                          </a:rPr>
                          <m:t>𝑚</m:t>
                        </m:r>
                      </m:e>
                      <m:sub>
                        <m:r>
                          <a:rPr lang="en-IN" i="1" smtClean="0">
                            <a:latin typeface="Cambria Math" panose="02040503050406030204" pitchFamily="18" charset="0"/>
                            <a:ea typeface="Cambria Math" panose="02040503050406030204" pitchFamily="18" charset="0"/>
                          </a:rPr>
                          <m:t>𝛿</m:t>
                        </m:r>
                      </m:sub>
                    </m:sSub>
                    <m:d>
                      <m:dPr>
                        <m:ctrlPr>
                          <a:rPr lang="en-GB" b="0" i="1" smtClean="0">
                            <a:latin typeface="Cambria Math" panose="02040503050406030204" pitchFamily="18" charset="0"/>
                          </a:rPr>
                        </m:ctrlPr>
                      </m:dPr>
                      <m:e>
                        <m:r>
                          <a:rPr lang="en-GB" b="0" i="1" smtClean="0">
                            <a:latin typeface="Cambria Math" panose="02040503050406030204" pitchFamily="18" charset="0"/>
                          </a:rPr>
                          <m:t>𝑡</m:t>
                        </m:r>
                      </m:e>
                    </m:d>
                    <m:r>
                      <a:rPr lang="en-GB" b="0" i="1" smtClean="0">
                        <a:latin typeface="Cambria Math" panose="02040503050406030204" pitchFamily="18" charset="0"/>
                      </a:rPr>
                      <m:t>∗</m:t>
                    </m:r>
                    <m:r>
                      <a:rPr lang="en-GB" b="0" i="1" smtClean="0">
                        <a:latin typeface="Cambria Math" panose="02040503050406030204" pitchFamily="18" charset="0"/>
                      </a:rPr>
                      <m:t>h</m:t>
                    </m:r>
                    <m:r>
                      <a:rPr lang="en-GB" b="0" i="1" smtClean="0">
                        <a:latin typeface="Cambria Math" panose="02040503050406030204" pitchFamily="18" charset="0"/>
                      </a:rPr>
                      <m:t>(</m:t>
                    </m:r>
                    <m:r>
                      <a:rPr lang="en-GB" b="0" i="1" smtClean="0">
                        <a:latin typeface="Cambria Math" panose="02040503050406030204" pitchFamily="18" charset="0"/>
                      </a:rPr>
                      <m:t>𝑡</m:t>
                    </m:r>
                    <m:r>
                      <a:rPr lang="en-GB" b="0" i="1" smtClean="0">
                        <a:latin typeface="Cambria Math" panose="02040503050406030204" pitchFamily="18" charset="0"/>
                      </a:rPr>
                      <m:t>)</m:t>
                    </m:r>
                  </m:oMath>
                </a14:m>
                <a:r>
                  <a:rPr lang="en-IN" dirty="0"/>
                  <a:t>													(6)</a:t>
                </a:r>
              </a:p>
              <a:p>
                <a:pPr marL="36900" indent="0">
                  <a:buNone/>
                </a:pPr>
                <a:r>
                  <a:rPr lang="en-GB" dirty="0"/>
                  <a:t>Taking the Fourier transform of both sides of equation (6) and recognizing that the convolution of two time functions is transformed into the multiplication of their respective Fourier transforms, we get</a:t>
                </a:r>
              </a:p>
              <a:p>
                <a:pPr marL="36900" indent="0">
                  <a:buNone/>
                </a:pPr>
                <a:r>
                  <a:rPr lang="en-GB" dirty="0"/>
                  <a:t>S(f) = </a:t>
                </a:r>
                <a14:m>
                  <m:oMath xmlns:m="http://schemas.openxmlformats.org/officeDocument/2006/math">
                    <m:sSub>
                      <m:sSubPr>
                        <m:ctrlPr>
                          <a:rPr lang="en-GB" i="1" smtClean="0">
                            <a:latin typeface="Cambria Math" panose="02040503050406030204" pitchFamily="18" charset="0"/>
                          </a:rPr>
                        </m:ctrlPr>
                      </m:sSubPr>
                      <m:e>
                        <m:r>
                          <a:rPr lang="en-GB" b="0" i="1" smtClean="0">
                            <a:latin typeface="Cambria Math" panose="02040503050406030204" pitchFamily="18" charset="0"/>
                          </a:rPr>
                          <m:t>𝑀</m:t>
                        </m:r>
                      </m:e>
                      <m:sub>
                        <m:r>
                          <a:rPr lang="en-GB" i="1" smtClean="0">
                            <a:latin typeface="Cambria Math" panose="02040503050406030204" pitchFamily="18" charset="0"/>
                            <a:ea typeface="Cambria Math" panose="02040503050406030204" pitchFamily="18" charset="0"/>
                          </a:rPr>
                          <m:t>𝛿</m:t>
                        </m:r>
                      </m:sub>
                    </m:sSub>
                    <m:d>
                      <m:dPr>
                        <m:ctrlPr>
                          <a:rPr lang="en-GB" b="0" i="1" smtClean="0">
                            <a:latin typeface="Cambria Math" panose="02040503050406030204" pitchFamily="18" charset="0"/>
                          </a:rPr>
                        </m:ctrlPr>
                      </m:dPr>
                      <m:e>
                        <m:r>
                          <a:rPr lang="en-GB" b="0" i="1" smtClean="0">
                            <a:latin typeface="Cambria Math" panose="02040503050406030204" pitchFamily="18" charset="0"/>
                          </a:rPr>
                          <m:t>𝑓</m:t>
                        </m:r>
                      </m:e>
                    </m:d>
                    <m:r>
                      <a:rPr lang="en-GB" b="0" i="1" smtClean="0">
                        <a:latin typeface="Cambria Math" panose="02040503050406030204" pitchFamily="18" charset="0"/>
                      </a:rPr>
                      <m:t>𝐻</m:t>
                    </m:r>
                    <m:r>
                      <a:rPr lang="en-GB" b="0" i="1" smtClean="0">
                        <a:latin typeface="Cambria Math" panose="02040503050406030204" pitchFamily="18" charset="0"/>
                      </a:rPr>
                      <m:t>(</m:t>
                    </m:r>
                    <m:r>
                      <a:rPr lang="en-GB" b="0" i="1" smtClean="0">
                        <a:latin typeface="Cambria Math" panose="02040503050406030204" pitchFamily="18" charset="0"/>
                      </a:rPr>
                      <m:t>𝑓</m:t>
                    </m:r>
                    <m:r>
                      <a:rPr lang="en-GB" b="0" i="1" smtClean="0">
                        <a:latin typeface="Cambria Math" panose="02040503050406030204" pitchFamily="18" charset="0"/>
                      </a:rPr>
                      <m:t>)</m:t>
                    </m:r>
                  </m:oMath>
                </a14:m>
                <a:r>
                  <a:rPr lang="en-GB" dirty="0"/>
                  <a:t>													(7)</a:t>
                </a:r>
              </a:p>
              <a:p>
                <a:pPr marL="36900" indent="0">
                  <a:buNone/>
                </a:pPr>
                <a:r>
                  <a:rPr lang="en-GB" dirty="0"/>
                  <a:t>Where S(f)=F[s(t)],</a:t>
                </a:r>
                <a14:m>
                  <m:oMath xmlns:m="http://schemas.openxmlformats.org/officeDocument/2006/math">
                    <m:sSub>
                      <m:sSubPr>
                        <m:ctrlPr>
                          <a:rPr lang="en-GB" i="1" smtClean="0">
                            <a:latin typeface="Cambria Math" panose="02040503050406030204" pitchFamily="18" charset="0"/>
                          </a:rPr>
                        </m:ctrlPr>
                      </m:sSubPr>
                      <m:e>
                        <m:r>
                          <a:rPr lang="en-GB" b="0" i="1" smtClean="0">
                            <a:latin typeface="Cambria Math" panose="02040503050406030204" pitchFamily="18" charset="0"/>
                          </a:rPr>
                          <m:t>𝑀</m:t>
                        </m:r>
                      </m:e>
                      <m:sub>
                        <m:r>
                          <a:rPr lang="en-GB" i="1" smtClean="0">
                            <a:latin typeface="Cambria Math" panose="02040503050406030204" pitchFamily="18" charset="0"/>
                            <a:ea typeface="Cambria Math" panose="02040503050406030204" pitchFamily="18" charset="0"/>
                          </a:rPr>
                          <m:t>𝛿</m:t>
                        </m:r>
                      </m:sub>
                    </m:sSub>
                    <m:d>
                      <m:dPr>
                        <m:ctrlPr>
                          <a:rPr lang="en-GB" b="0" i="1" smtClean="0">
                            <a:latin typeface="Cambria Math" panose="02040503050406030204" pitchFamily="18" charset="0"/>
                          </a:rPr>
                        </m:ctrlPr>
                      </m:dPr>
                      <m:e>
                        <m:r>
                          <a:rPr lang="en-GB" b="0" i="1" smtClean="0">
                            <a:latin typeface="Cambria Math" panose="02040503050406030204" pitchFamily="18" charset="0"/>
                          </a:rPr>
                          <m:t>𝑓</m:t>
                        </m:r>
                      </m:e>
                    </m:d>
                    <m:r>
                      <a:rPr lang="en-GB" b="0" i="1" smtClean="0">
                        <a:latin typeface="Cambria Math" panose="02040503050406030204" pitchFamily="18" charset="0"/>
                      </a:rPr>
                      <m:t>=</m:t>
                    </m:r>
                    <m:r>
                      <a:rPr lang="en-GB" b="0" i="1" smtClean="0">
                        <a:latin typeface="Cambria Math" panose="02040503050406030204" pitchFamily="18" charset="0"/>
                      </a:rPr>
                      <m:t>𝐹</m:t>
                    </m:r>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𝑚</m:t>
                        </m:r>
                      </m:e>
                      <m:sub>
                        <m:r>
                          <a:rPr lang="en-GB" b="0" i="1" smtClean="0">
                            <a:latin typeface="Cambria Math" panose="02040503050406030204" pitchFamily="18" charset="0"/>
                            <a:ea typeface="Cambria Math" panose="02040503050406030204" pitchFamily="18" charset="0"/>
                          </a:rPr>
                          <m:t>𝛿</m:t>
                        </m:r>
                      </m:sub>
                    </m:sSub>
                    <m:r>
                      <a:rPr lang="en-GB" b="0" i="1" smtClean="0">
                        <a:latin typeface="Cambria Math" panose="02040503050406030204" pitchFamily="18" charset="0"/>
                      </a:rPr>
                      <m:t>(</m:t>
                    </m:r>
                    <m:r>
                      <a:rPr lang="en-GB" b="0" i="1" smtClean="0">
                        <a:latin typeface="Cambria Math" panose="02040503050406030204" pitchFamily="18" charset="0"/>
                      </a:rPr>
                      <m:t>𝑡</m:t>
                    </m:r>
                    <m:r>
                      <a:rPr lang="en-GB" b="0" i="1" smtClean="0">
                        <a:latin typeface="Cambria Math" panose="02040503050406030204" pitchFamily="18" charset="0"/>
                      </a:rPr>
                      <m:t>)]</m:t>
                    </m:r>
                  </m:oMath>
                </a14:m>
                <a:r>
                  <a:rPr lang="en-GB" dirty="0"/>
                  <a:t> and H(f) = F[h(t)]</a:t>
                </a:r>
              </a:p>
            </p:txBody>
          </p:sp>
        </mc:Choice>
        <mc:Fallback>
          <p:sp>
            <p:nvSpPr>
              <p:cNvPr id="3" name="Content Placeholder 2">
                <a:extLst>
                  <a:ext uri="{FF2B5EF4-FFF2-40B4-BE49-F238E27FC236}">
                    <a16:creationId xmlns:a16="http://schemas.microsoft.com/office/drawing/2014/main" id="{252A579E-CE11-40E9-AEC4-8206D80FF460}"/>
                  </a:ext>
                </a:extLst>
              </p:cNvPr>
              <p:cNvSpPr>
                <a:spLocks noGrp="1" noRot="1" noChangeAspect="1" noMove="1" noResize="1" noEditPoints="1" noAdjustHandles="1" noChangeArrowheads="1" noChangeShapeType="1" noTextEdit="1"/>
              </p:cNvSpPr>
              <p:nvPr>
                <p:ph idx="1"/>
              </p:nvPr>
            </p:nvSpPr>
            <p:spPr>
              <a:xfrm>
                <a:off x="919119" y="567690"/>
                <a:ext cx="10353762" cy="5487121"/>
              </a:xfrm>
              <a:blipFill>
                <a:blip r:embed="rId2"/>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5414320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BAD31976-CF2C-47A1-98DA-D9C7CD293210}"/>
                  </a:ext>
                </a:extLst>
              </p:cNvPr>
              <p:cNvSpPr>
                <a:spLocks noGrp="1"/>
              </p:cNvSpPr>
              <p:nvPr>
                <p:ph idx="1"/>
              </p:nvPr>
            </p:nvSpPr>
            <p:spPr>
              <a:xfrm>
                <a:off x="913795" y="185352"/>
                <a:ext cx="10353762" cy="5605848"/>
              </a:xfrm>
            </p:spPr>
            <p:txBody>
              <a:bodyPr>
                <a:normAutofit/>
              </a:bodyPr>
              <a:lstStyle/>
              <a:p>
                <a:pPr marL="36900" indent="0">
                  <a:buNone/>
                </a:pPr>
                <a:r>
                  <a:rPr lang="en-GB" dirty="0"/>
                  <a:t>Adapting equation to the problem at hand, we note that the Fourier transform  is related to the Fourier transform M(f) of the original message signal m(t) as follows:</a:t>
                </a:r>
              </a:p>
              <a:p>
                <a:pPr marL="36900" indent="0">
                  <a:buNone/>
                </a:pPr>
                <a14:m>
                  <m:oMath xmlns:m="http://schemas.openxmlformats.org/officeDocument/2006/math">
                    <m:sSub>
                      <m:sSubPr>
                        <m:ctrlPr>
                          <a:rPr lang="en-GB" i="1" smtClean="0">
                            <a:latin typeface="Cambria Math" panose="02040503050406030204" pitchFamily="18" charset="0"/>
                          </a:rPr>
                        </m:ctrlPr>
                      </m:sSubPr>
                      <m:e>
                        <m:r>
                          <a:rPr lang="en-GB" b="0" i="1" smtClean="0">
                            <a:latin typeface="Cambria Math" panose="02040503050406030204" pitchFamily="18" charset="0"/>
                          </a:rPr>
                          <m:t>𝑀</m:t>
                        </m:r>
                      </m:e>
                      <m:sub>
                        <m:r>
                          <a:rPr lang="en-GB" i="1" smtClean="0">
                            <a:latin typeface="Cambria Math" panose="02040503050406030204" pitchFamily="18" charset="0"/>
                            <a:ea typeface="Cambria Math" panose="02040503050406030204" pitchFamily="18" charset="0"/>
                          </a:rPr>
                          <m:t>𝛿</m:t>
                        </m:r>
                      </m:sub>
                    </m:sSub>
                    <m:d>
                      <m:dPr>
                        <m:ctrlPr>
                          <a:rPr lang="en-GB" b="0" i="1" smtClean="0">
                            <a:latin typeface="Cambria Math" panose="02040503050406030204" pitchFamily="18" charset="0"/>
                          </a:rPr>
                        </m:ctrlPr>
                      </m:dPr>
                      <m:e>
                        <m:r>
                          <a:rPr lang="en-GB" b="0" i="1" smtClean="0">
                            <a:latin typeface="Cambria Math" panose="02040503050406030204" pitchFamily="18" charset="0"/>
                          </a:rPr>
                          <m:t>𝑓</m:t>
                        </m:r>
                      </m:e>
                    </m:d>
                    <m:r>
                      <a:rPr lang="en-GB" b="0" i="1" smtClean="0">
                        <a:latin typeface="Cambria Math" panose="02040503050406030204" pitchFamily="18" charset="0"/>
                      </a:rPr>
                      <m:t>= </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𝑓</m:t>
                        </m:r>
                      </m:e>
                      <m:sub>
                        <m:r>
                          <a:rPr lang="en-GB" b="0" i="1" smtClean="0">
                            <a:latin typeface="Cambria Math" panose="02040503050406030204" pitchFamily="18" charset="0"/>
                          </a:rPr>
                          <m:t>𝑠</m:t>
                        </m:r>
                      </m:sub>
                    </m:sSub>
                    <m:nary>
                      <m:naryPr>
                        <m:chr m:val="∑"/>
                        <m:ctrlPr>
                          <a:rPr lang="en-GB" b="0" i="1" smtClean="0">
                            <a:latin typeface="Cambria Math" panose="02040503050406030204" pitchFamily="18" charset="0"/>
                          </a:rPr>
                        </m:ctrlPr>
                      </m:naryPr>
                      <m:sub>
                        <m:r>
                          <m:rPr>
                            <m:brk m:alnAt="23"/>
                          </m:rPr>
                          <a:rPr lang="en-GB" b="0" i="1" smtClean="0">
                            <a:latin typeface="Cambria Math" panose="02040503050406030204" pitchFamily="18" charset="0"/>
                          </a:rPr>
                          <m:t>𝑘</m:t>
                        </m:r>
                        <m:r>
                          <a:rPr lang="en-GB" b="0" i="1" smtClean="0">
                            <a:latin typeface="Cambria Math" panose="02040503050406030204" pitchFamily="18" charset="0"/>
                          </a:rPr>
                          <m:t>=−∞</m:t>
                        </m:r>
                      </m:sub>
                      <m:sup>
                        <m:r>
                          <a:rPr lang="en-GB" b="0" i="1" smtClean="0">
                            <a:latin typeface="Cambria Math" panose="02040503050406030204" pitchFamily="18" charset="0"/>
                            <a:ea typeface="Cambria Math" panose="02040503050406030204" pitchFamily="18" charset="0"/>
                          </a:rPr>
                          <m:t>∞</m:t>
                        </m:r>
                      </m:sup>
                      <m:e>
                        <m:r>
                          <a:rPr lang="en-GB" b="0" i="1" smtClean="0">
                            <a:latin typeface="Cambria Math" panose="02040503050406030204" pitchFamily="18" charset="0"/>
                          </a:rPr>
                          <m:t>𝑀</m:t>
                        </m:r>
                        <m:r>
                          <a:rPr lang="en-GB" b="0" i="1" smtClean="0">
                            <a:latin typeface="Cambria Math" panose="02040503050406030204" pitchFamily="18" charset="0"/>
                          </a:rPr>
                          <m:t>(</m:t>
                        </m:r>
                        <m:r>
                          <a:rPr lang="en-GB" b="0" i="1" smtClean="0">
                            <a:latin typeface="Cambria Math" panose="02040503050406030204" pitchFamily="18" charset="0"/>
                          </a:rPr>
                          <m:t>𝑓</m:t>
                        </m:r>
                        <m:r>
                          <a:rPr lang="en-GB" b="0" i="1" smtClean="0">
                            <a:latin typeface="Cambria Math" panose="02040503050406030204" pitchFamily="18" charset="0"/>
                          </a:rPr>
                          <m:t>−</m:t>
                        </m:r>
                        <m:r>
                          <a:rPr lang="en-GB" b="0" i="1" smtClean="0">
                            <a:latin typeface="Cambria Math" panose="02040503050406030204" pitchFamily="18" charset="0"/>
                          </a:rPr>
                          <m:t>𝑘</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𝑓</m:t>
                            </m:r>
                          </m:e>
                          <m:sub>
                            <m:r>
                              <a:rPr lang="en-GB" b="0" i="1" smtClean="0">
                                <a:latin typeface="Cambria Math" panose="02040503050406030204" pitchFamily="18" charset="0"/>
                              </a:rPr>
                              <m:t>𝑠</m:t>
                            </m:r>
                          </m:sub>
                        </m:sSub>
                        <m:r>
                          <a:rPr lang="en-GB" b="0" i="1" smtClean="0">
                            <a:latin typeface="Cambria Math" panose="02040503050406030204" pitchFamily="18" charset="0"/>
                          </a:rPr>
                          <m:t>)</m:t>
                        </m:r>
                      </m:e>
                    </m:nary>
                  </m:oMath>
                </a14:m>
                <a:r>
                  <a:rPr lang="en-GB" dirty="0"/>
                  <a:t>													(8)</a:t>
                </a:r>
              </a:p>
              <a:p>
                <a:pPr marL="36900" indent="0">
                  <a:buNone/>
                </a:pPr>
                <a:r>
                  <a:rPr lang="en-GB" dirty="0"/>
                  <a:t>Where fs is the sampling rate. Therefore, substitution of equation (8) into (7) yields</a:t>
                </a:r>
                <a:endParaRPr lang="en-IN" dirty="0"/>
              </a:p>
              <a:p>
                <a:pPr marL="36900" indent="0">
                  <a:buNone/>
                </a:pPr>
                <a14:m>
                  <m:oMath xmlns:m="http://schemas.openxmlformats.org/officeDocument/2006/math">
                    <m:r>
                      <a:rPr lang="en-GB" b="0" i="1" smtClean="0">
                        <a:latin typeface="Cambria Math" panose="02040503050406030204" pitchFamily="18" charset="0"/>
                      </a:rPr>
                      <m:t>𝑆</m:t>
                    </m:r>
                    <m:d>
                      <m:dPr>
                        <m:ctrlPr>
                          <a:rPr lang="en-GB" b="0" i="1" smtClean="0">
                            <a:latin typeface="Cambria Math" panose="02040503050406030204" pitchFamily="18" charset="0"/>
                          </a:rPr>
                        </m:ctrlPr>
                      </m:dPr>
                      <m:e>
                        <m:r>
                          <a:rPr lang="en-GB" b="0" i="1" smtClean="0">
                            <a:latin typeface="Cambria Math" panose="02040503050406030204" pitchFamily="18" charset="0"/>
                          </a:rPr>
                          <m:t>𝑓</m:t>
                        </m:r>
                      </m:e>
                    </m:d>
                    <m:r>
                      <a:rPr lang="en-GB" b="0" i="1" smtClean="0">
                        <a:latin typeface="Cambria Math" panose="02040503050406030204" pitchFamily="18" charset="0"/>
                      </a:rPr>
                      <m:t>= </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𝑓</m:t>
                        </m:r>
                      </m:e>
                      <m:sub>
                        <m:r>
                          <a:rPr lang="en-GB" b="0" i="1" smtClean="0">
                            <a:latin typeface="Cambria Math" panose="02040503050406030204" pitchFamily="18" charset="0"/>
                          </a:rPr>
                          <m:t>𝑠</m:t>
                        </m:r>
                      </m:sub>
                    </m:sSub>
                    <m:nary>
                      <m:naryPr>
                        <m:chr m:val="∑"/>
                        <m:ctrlPr>
                          <a:rPr lang="en-GB" b="0" i="1" smtClean="0">
                            <a:latin typeface="Cambria Math" panose="02040503050406030204" pitchFamily="18" charset="0"/>
                          </a:rPr>
                        </m:ctrlPr>
                      </m:naryPr>
                      <m:sub>
                        <m:r>
                          <m:rPr>
                            <m:brk m:alnAt="23"/>
                          </m:rPr>
                          <a:rPr lang="en-GB" b="0" i="1" smtClean="0">
                            <a:latin typeface="Cambria Math" panose="02040503050406030204" pitchFamily="18" charset="0"/>
                          </a:rPr>
                          <m:t>𝑘</m:t>
                        </m:r>
                        <m:r>
                          <a:rPr lang="en-GB" b="0" i="1" smtClean="0">
                            <a:latin typeface="Cambria Math" panose="02040503050406030204" pitchFamily="18" charset="0"/>
                          </a:rPr>
                          <m:t>=−∞</m:t>
                        </m:r>
                      </m:sub>
                      <m:sup>
                        <m:r>
                          <a:rPr lang="en-GB" b="0" i="1" smtClean="0">
                            <a:latin typeface="Cambria Math" panose="02040503050406030204" pitchFamily="18" charset="0"/>
                            <a:ea typeface="Cambria Math" panose="02040503050406030204" pitchFamily="18" charset="0"/>
                          </a:rPr>
                          <m:t>∞</m:t>
                        </m:r>
                      </m:sup>
                      <m:e>
                        <m:r>
                          <a:rPr lang="en-GB" b="0" i="1" smtClean="0">
                            <a:latin typeface="Cambria Math" panose="02040503050406030204" pitchFamily="18" charset="0"/>
                          </a:rPr>
                          <m:t>𝑀</m:t>
                        </m:r>
                        <m:d>
                          <m:dPr>
                            <m:ctrlPr>
                              <a:rPr lang="en-GB" b="0" i="1" smtClean="0">
                                <a:latin typeface="Cambria Math" panose="02040503050406030204" pitchFamily="18" charset="0"/>
                              </a:rPr>
                            </m:ctrlPr>
                          </m:dPr>
                          <m:e>
                            <m:r>
                              <a:rPr lang="en-GB" b="0" i="1" smtClean="0">
                                <a:latin typeface="Cambria Math" panose="02040503050406030204" pitchFamily="18" charset="0"/>
                              </a:rPr>
                              <m:t>𝑓</m:t>
                            </m:r>
                            <m:r>
                              <a:rPr lang="en-GB" b="0" i="1" smtClean="0">
                                <a:latin typeface="Cambria Math" panose="02040503050406030204" pitchFamily="18" charset="0"/>
                              </a:rPr>
                              <m:t>−</m:t>
                            </m:r>
                            <m:r>
                              <a:rPr lang="en-GB" b="0" i="1" smtClean="0">
                                <a:latin typeface="Cambria Math" panose="02040503050406030204" pitchFamily="18" charset="0"/>
                              </a:rPr>
                              <m:t>𝑘</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𝑓</m:t>
                                </m:r>
                              </m:e>
                              <m:sub>
                                <m:r>
                                  <a:rPr lang="en-GB" b="0" i="1" smtClean="0">
                                    <a:latin typeface="Cambria Math" panose="02040503050406030204" pitchFamily="18" charset="0"/>
                                  </a:rPr>
                                  <m:t>𝑠</m:t>
                                </m:r>
                              </m:sub>
                            </m:sSub>
                          </m:e>
                        </m:d>
                        <m:r>
                          <a:rPr lang="en-GB" b="0" i="1" smtClean="0">
                            <a:latin typeface="Cambria Math" panose="02040503050406030204" pitchFamily="18" charset="0"/>
                          </a:rPr>
                          <m:t>𝐻</m:t>
                        </m:r>
                        <m:r>
                          <a:rPr lang="en-GB" b="0" i="1" smtClean="0">
                            <a:latin typeface="Cambria Math" panose="02040503050406030204" pitchFamily="18" charset="0"/>
                          </a:rPr>
                          <m:t>(</m:t>
                        </m:r>
                        <m:r>
                          <a:rPr lang="en-GB" b="0" i="1" smtClean="0">
                            <a:latin typeface="Cambria Math" panose="02040503050406030204" pitchFamily="18" charset="0"/>
                          </a:rPr>
                          <m:t>𝑓</m:t>
                        </m:r>
                        <m:r>
                          <a:rPr lang="en-GB" b="0" i="1" smtClean="0">
                            <a:latin typeface="Cambria Math" panose="02040503050406030204" pitchFamily="18" charset="0"/>
                          </a:rPr>
                          <m:t>)</m:t>
                        </m:r>
                      </m:e>
                    </m:nary>
                  </m:oMath>
                </a14:m>
                <a:r>
                  <a:rPr lang="en-IN" dirty="0"/>
                  <a:t>											(9)</a:t>
                </a:r>
              </a:p>
              <a:p>
                <a:pPr marL="36900" indent="0">
                  <a:buNone/>
                </a:pPr>
                <a:r>
                  <a:rPr lang="en-IN" dirty="0"/>
                  <a:t>To recover the original message signal  m(t), as the first step of reconstruction, we may pass s(t) through a low-pass filter, here it is assumed that the message is limited to bandwidth W and the sampling rate  is larger than the Nyquist rate 2W. Then, from Equation (9) we find that the spectrum of the resulting filter output is equal to M(f)H(f). This output is equivalent to passing the original message signal m(t) through another low-pass filter of frequency response H(f).</a:t>
                </a:r>
                <a:endParaRPr lang="en-GB" dirty="0"/>
              </a:p>
            </p:txBody>
          </p:sp>
        </mc:Choice>
        <mc:Fallback>
          <p:sp>
            <p:nvSpPr>
              <p:cNvPr id="3" name="Content Placeholder 2">
                <a:extLst>
                  <a:ext uri="{FF2B5EF4-FFF2-40B4-BE49-F238E27FC236}">
                    <a16:creationId xmlns:a16="http://schemas.microsoft.com/office/drawing/2014/main" id="{BAD31976-CF2C-47A1-98DA-D9C7CD293210}"/>
                  </a:ext>
                </a:extLst>
              </p:cNvPr>
              <p:cNvSpPr>
                <a:spLocks noGrp="1" noRot="1" noChangeAspect="1" noMove="1" noResize="1" noEditPoints="1" noAdjustHandles="1" noChangeArrowheads="1" noChangeShapeType="1" noTextEdit="1"/>
              </p:cNvSpPr>
              <p:nvPr>
                <p:ph idx="1"/>
              </p:nvPr>
            </p:nvSpPr>
            <p:spPr>
              <a:xfrm>
                <a:off x="913795" y="185352"/>
                <a:ext cx="10353762" cy="5605848"/>
              </a:xfrm>
              <a:blipFill>
                <a:blip r:embed="rId2"/>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23583025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695E99D-02FE-4C55-ADD0-A23B3071BBCA}"/>
              </a:ext>
            </a:extLst>
          </p:cNvPr>
          <p:cNvSpPr>
            <a:spLocks noGrp="1"/>
          </p:cNvSpPr>
          <p:nvPr>
            <p:ph type="title"/>
          </p:nvPr>
        </p:nvSpPr>
        <p:spPr>
          <a:xfrm>
            <a:off x="919119" y="1717865"/>
            <a:ext cx="10353762" cy="495300"/>
          </a:xfrm>
        </p:spPr>
        <p:txBody>
          <a:bodyPr>
            <a:normAutofit/>
          </a:bodyPr>
          <a:lstStyle/>
          <a:p>
            <a:r>
              <a:rPr lang="en-GB" sz="2000" dirty="0"/>
              <a:t>Figure. System for recovering message signal m(t) from PAM signal s(t)</a:t>
            </a:r>
            <a:endParaRPr lang="en-IN" sz="2000"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66AD3F4-952B-4F46-A159-AB8D38321B07}"/>
                  </a:ext>
                </a:extLst>
              </p:cNvPr>
              <p:cNvSpPr>
                <a:spLocks noGrp="1"/>
              </p:cNvSpPr>
              <p:nvPr>
                <p:ph idx="4294967295"/>
              </p:nvPr>
            </p:nvSpPr>
            <p:spPr>
              <a:xfrm>
                <a:off x="919119" y="2656763"/>
                <a:ext cx="10353675" cy="3867150"/>
              </a:xfrm>
            </p:spPr>
            <p:txBody>
              <a:bodyPr/>
              <a:lstStyle/>
              <a:p>
                <a:pPr marL="36900" indent="0">
                  <a:buNone/>
                </a:pPr>
                <a:r>
                  <a:rPr lang="en-GB" dirty="0"/>
                  <a:t>From Equation (2) we note that the Fourier transform of the rectangular pulse h(t) is given by</a:t>
                </a:r>
              </a:p>
              <a:p>
                <a:pPr marL="36900" indent="0">
                  <a:buNone/>
                </a:pPr>
                <a14:m>
                  <m:oMath xmlns:m="http://schemas.openxmlformats.org/officeDocument/2006/math">
                    <m:r>
                      <a:rPr lang="en-GB" b="0" i="1" smtClean="0">
                        <a:latin typeface="Cambria Math" panose="02040503050406030204" pitchFamily="18" charset="0"/>
                      </a:rPr>
                      <m:t>𝐻</m:t>
                    </m:r>
                    <m:d>
                      <m:dPr>
                        <m:ctrlPr>
                          <a:rPr lang="en-GB" b="0" i="1" smtClean="0">
                            <a:latin typeface="Cambria Math" panose="02040503050406030204" pitchFamily="18" charset="0"/>
                          </a:rPr>
                        </m:ctrlPr>
                      </m:dPr>
                      <m:e>
                        <m:r>
                          <a:rPr lang="en-GB" b="0" i="1" smtClean="0">
                            <a:latin typeface="Cambria Math" panose="02040503050406030204" pitchFamily="18" charset="0"/>
                          </a:rPr>
                          <m:t>𝑓</m:t>
                        </m:r>
                      </m:e>
                    </m:d>
                    <m:r>
                      <a:rPr lang="en-GB" b="0" i="1" smtClean="0">
                        <a:latin typeface="Cambria Math" panose="02040503050406030204" pitchFamily="18" charset="0"/>
                      </a:rPr>
                      <m:t>=</m:t>
                    </m:r>
                    <m:r>
                      <a:rPr lang="en-GB" b="0" i="1" smtClean="0">
                        <a:latin typeface="Cambria Math" panose="02040503050406030204" pitchFamily="18" charset="0"/>
                      </a:rPr>
                      <m:t>𝑇𝑠𝑖𝑛𝑐</m:t>
                    </m:r>
                    <m:d>
                      <m:dPr>
                        <m:ctrlPr>
                          <a:rPr lang="en-GB" b="0" i="1" smtClean="0">
                            <a:latin typeface="Cambria Math" panose="02040503050406030204" pitchFamily="18" charset="0"/>
                          </a:rPr>
                        </m:ctrlPr>
                      </m:dPr>
                      <m:e>
                        <m:r>
                          <a:rPr lang="en-GB" b="0" i="1" smtClean="0">
                            <a:latin typeface="Cambria Math" panose="02040503050406030204" pitchFamily="18" charset="0"/>
                          </a:rPr>
                          <m:t>𝑓𝑇</m:t>
                        </m:r>
                      </m:e>
                    </m:d>
                    <m:r>
                      <m:rPr>
                        <m:sty m:val="p"/>
                      </m:rPr>
                      <a:rPr lang="en-GB" b="0" i="0" smtClean="0">
                        <a:latin typeface="Cambria Math" panose="02040503050406030204" pitchFamily="18" charset="0"/>
                      </a:rPr>
                      <m:t>exp</m:t>
                    </m:r>
                    <m:r>
                      <a:rPr lang="en-GB" b="0" i="1" smtClean="0">
                        <a:latin typeface="Cambria Math" panose="02040503050406030204" pitchFamily="18" charset="0"/>
                      </a:rPr>
                      <m:t>⁡(−</m:t>
                    </m:r>
                    <m:r>
                      <a:rPr lang="en-GB" b="0" i="1" smtClean="0">
                        <a:latin typeface="Cambria Math" panose="02040503050406030204" pitchFamily="18" charset="0"/>
                      </a:rPr>
                      <m:t>𝑗</m:t>
                    </m:r>
                    <m:r>
                      <a:rPr lang="en-GB" b="0" i="1" smtClean="0">
                        <a:latin typeface="Cambria Math" panose="02040503050406030204" pitchFamily="18" charset="0"/>
                        <a:ea typeface="Cambria Math" panose="02040503050406030204" pitchFamily="18" charset="0"/>
                      </a:rPr>
                      <m:t>𝜋</m:t>
                    </m:r>
                    <m:r>
                      <a:rPr lang="en-GB" b="0" i="1" smtClean="0">
                        <a:latin typeface="Cambria Math" panose="02040503050406030204" pitchFamily="18" charset="0"/>
                        <a:ea typeface="Cambria Math" panose="02040503050406030204" pitchFamily="18" charset="0"/>
                      </a:rPr>
                      <m:t>𝑓𝑇</m:t>
                    </m:r>
                    <m:r>
                      <a:rPr lang="en-GB" b="0" i="1" smtClean="0">
                        <a:latin typeface="Cambria Math" panose="02040503050406030204" pitchFamily="18" charset="0"/>
                        <a:ea typeface="Cambria Math" panose="02040503050406030204" pitchFamily="18" charset="0"/>
                      </a:rPr>
                      <m:t>)</m:t>
                    </m:r>
                  </m:oMath>
                </a14:m>
                <a:r>
                  <a:rPr lang="en-GB" dirty="0"/>
                  <a:t>												(10)</a:t>
                </a:r>
              </a:p>
              <a:p>
                <a:pPr marL="36900" indent="0">
                  <a:buNone/>
                </a:pPr>
                <a:r>
                  <a:rPr lang="en-GB" dirty="0"/>
                  <a:t>Which is plotted in Figure. We see therefore that by using flat-top samples to generate a PAM signal, we have introduced amplitude distortion as well as a delay of T/2. This effect is rather similar to the variation in transmission with frequency that is caused by the finite size of the scanning aperture in television. Accordingly, the distortion caused by the use of pulse-amplitude modulation to transmit an </a:t>
                </a:r>
                <a:r>
                  <a:rPr lang="en-GB" dirty="0" err="1"/>
                  <a:t>analog</a:t>
                </a:r>
                <a:r>
                  <a:rPr lang="en-GB" dirty="0"/>
                  <a:t> information bearing signal is referred to as the aperture effect.</a:t>
                </a:r>
              </a:p>
            </p:txBody>
          </p:sp>
        </mc:Choice>
        <mc:Fallback>
          <p:sp>
            <p:nvSpPr>
              <p:cNvPr id="3" name="Content Placeholder 2">
                <a:extLst>
                  <a:ext uri="{FF2B5EF4-FFF2-40B4-BE49-F238E27FC236}">
                    <a16:creationId xmlns:a16="http://schemas.microsoft.com/office/drawing/2014/main" id="{266AD3F4-952B-4F46-A159-AB8D38321B07}"/>
                  </a:ext>
                </a:extLst>
              </p:cNvPr>
              <p:cNvSpPr>
                <a:spLocks noGrp="1" noRot="1" noChangeAspect="1" noMove="1" noResize="1" noEditPoints="1" noAdjustHandles="1" noChangeArrowheads="1" noChangeShapeType="1" noTextEdit="1"/>
              </p:cNvSpPr>
              <p:nvPr>
                <p:ph idx="4294967295"/>
              </p:nvPr>
            </p:nvSpPr>
            <p:spPr>
              <a:xfrm>
                <a:off x="919119" y="2656763"/>
                <a:ext cx="10353675" cy="3867150"/>
              </a:xfrm>
              <a:blipFill>
                <a:blip r:embed="rId2"/>
                <a:stretch>
                  <a:fillRect/>
                </a:stretch>
              </a:blipFill>
            </p:spPr>
            <p:txBody>
              <a:bodyPr/>
              <a:lstStyle/>
              <a:p>
                <a:r>
                  <a:rPr lang="en-IN">
                    <a:noFill/>
                  </a:rPr>
                  <a:t> </a:t>
                </a:r>
              </a:p>
            </p:txBody>
          </p:sp>
        </mc:Fallback>
      </mc:AlternateContent>
      <p:pic>
        <p:nvPicPr>
          <p:cNvPr id="6" name="Picture 5">
            <a:extLst>
              <a:ext uri="{FF2B5EF4-FFF2-40B4-BE49-F238E27FC236}">
                <a16:creationId xmlns:a16="http://schemas.microsoft.com/office/drawing/2014/main" id="{65A250E7-401F-4388-BF00-FFF35A2296B4}"/>
              </a:ext>
            </a:extLst>
          </p:cNvPr>
          <p:cNvPicPr>
            <a:picLocks noChangeAspect="1"/>
          </p:cNvPicPr>
          <p:nvPr/>
        </p:nvPicPr>
        <p:blipFill>
          <a:blip r:embed="rId3"/>
          <a:stretch>
            <a:fillRect/>
          </a:stretch>
        </p:blipFill>
        <p:spPr>
          <a:xfrm>
            <a:off x="2660237" y="334087"/>
            <a:ext cx="6525536" cy="1359064"/>
          </a:xfrm>
          <a:prstGeom prst="rect">
            <a:avLst/>
          </a:prstGeom>
        </p:spPr>
      </p:pic>
    </p:spTree>
    <p:extLst>
      <p:ext uri="{BB962C8B-B14F-4D97-AF65-F5344CB8AC3E}">
        <p14:creationId xmlns:p14="http://schemas.microsoft.com/office/powerpoint/2010/main" val="40196540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A3969036-9900-4879-B920-8355648C88F4}"/>
                  </a:ext>
                </a:extLst>
              </p:cNvPr>
              <p:cNvSpPr>
                <a:spLocks noGrp="1"/>
              </p:cNvSpPr>
              <p:nvPr>
                <p:ph idx="1"/>
              </p:nvPr>
            </p:nvSpPr>
            <p:spPr>
              <a:xfrm>
                <a:off x="919119" y="755822"/>
                <a:ext cx="10353762" cy="5346356"/>
              </a:xfrm>
            </p:spPr>
            <p:txBody>
              <a:bodyPr/>
              <a:lstStyle/>
              <a:p>
                <a:pPr marL="36900" indent="0">
                  <a:buNone/>
                </a:pPr>
                <a:r>
                  <a:rPr lang="en-GB" dirty="0"/>
                  <a:t>This distortion may be corrected by connecting an equalizer in cascade with the low-ass reconstruction filter. The equalizer has the effect of decreasing the in-band loss of the reconstruction filter as the frequency increases in such a manner as to compensate for the aperture effect. Ideally, the magnitude response of the equalizer is given by</a:t>
                </a:r>
              </a:p>
              <a:p>
                <a:pPr marL="36900" indent="0">
                  <a:buNone/>
                </a:pPr>
                <a:endParaRPr lang="en-GB" dirty="0"/>
              </a:p>
              <a:p>
                <a:pPr marL="36900" indent="0">
                  <a:buNone/>
                </a:pPr>
                <a:r>
                  <a:rPr lang="en-GB" dirty="0"/>
                  <a:t> </a:t>
                </a:r>
                <a14:m>
                  <m:oMath xmlns:m="http://schemas.openxmlformats.org/officeDocument/2006/math">
                    <m:f>
                      <m:fPr>
                        <m:ctrlPr>
                          <a:rPr lang="en-GB"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m:t>
                        </m:r>
                        <m:r>
                          <a:rPr lang="en-GB" b="0" i="1" smtClean="0">
                            <a:latin typeface="Cambria Math" panose="02040503050406030204" pitchFamily="18" charset="0"/>
                          </a:rPr>
                          <m:t>𝐻</m:t>
                        </m:r>
                        <m:r>
                          <a:rPr lang="en-GB" b="0" i="1" smtClean="0">
                            <a:latin typeface="Cambria Math" panose="02040503050406030204" pitchFamily="18" charset="0"/>
                          </a:rPr>
                          <m:t>(</m:t>
                        </m:r>
                        <m:r>
                          <a:rPr lang="en-GB" b="0" i="1" smtClean="0">
                            <a:latin typeface="Cambria Math" panose="02040503050406030204" pitchFamily="18" charset="0"/>
                          </a:rPr>
                          <m:t>𝑓</m:t>
                        </m:r>
                        <m:r>
                          <a:rPr lang="en-GB" b="0" i="1" smtClean="0">
                            <a:latin typeface="Cambria Math" panose="02040503050406030204" pitchFamily="18" charset="0"/>
                          </a:rPr>
                          <m:t>)|</m:t>
                        </m:r>
                      </m:den>
                    </m:f>
                    <m:r>
                      <a:rPr lang="en-GB" b="0" i="1" smtClean="0">
                        <a:latin typeface="Cambria Math" panose="02040503050406030204" pitchFamily="18" charset="0"/>
                      </a:rPr>
                      <m:t>= </m:t>
                    </m:r>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𝑇𝑠𝑖𝑛𝑐</m:t>
                        </m:r>
                        <m:r>
                          <a:rPr lang="en-GB" b="0" i="1" smtClean="0">
                            <a:latin typeface="Cambria Math" panose="02040503050406030204" pitchFamily="18" charset="0"/>
                          </a:rPr>
                          <m:t>(</m:t>
                        </m:r>
                        <m:r>
                          <a:rPr lang="en-GB" b="0" i="1" smtClean="0">
                            <a:latin typeface="Cambria Math" panose="02040503050406030204" pitchFamily="18" charset="0"/>
                          </a:rPr>
                          <m:t>𝑓𝑇</m:t>
                        </m:r>
                        <m:r>
                          <a:rPr lang="en-GB" b="0" i="1" smtClean="0">
                            <a:latin typeface="Cambria Math" panose="02040503050406030204" pitchFamily="18" charset="0"/>
                          </a:rPr>
                          <m:t>)</m:t>
                        </m:r>
                      </m:den>
                    </m:f>
                    <m:r>
                      <a:rPr lang="en-GB" b="0" i="1" smtClean="0">
                        <a:latin typeface="Cambria Math" panose="02040503050406030204" pitchFamily="18" charset="0"/>
                      </a:rPr>
                      <m:t>= </m:t>
                    </m:r>
                    <m:f>
                      <m:fPr>
                        <m:ctrlPr>
                          <a:rPr lang="en-GB" b="0" i="1" smtClean="0">
                            <a:latin typeface="Cambria Math" panose="02040503050406030204" pitchFamily="18" charset="0"/>
                          </a:rPr>
                        </m:ctrlPr>
                      </m:fPr>
                      <m:num>
                        <m:r>
                          <a:rPr lang="en-GB" b="0" i="1" smtClean="0">
                            <a:latin typeface="Cambria Math" panose="02040503050406030204" pitchFamily="18" charset="0"/>
                            <a:ea typeface="Cambria Math" panose="02040503050406030204" pitchFamily="18" charset="0"/>
                          </a:rPr>
                          <m:t>𝜋</m:t>
                        </m:r>
                        <m:r>
                          <a:rPr lang="en-GB" b="0" i="1" smtClean="0">
                            <a:latin typeface="Cambria Math" panose="02040503050406030204" pitchFamily="18" charset="0"/>
                            <a:ea typeface="Cambria Math" panose="02040503050406030204" pitchFamily="18" charset="0"/>
                          </a:rPr>
                          <m:t>𝑓</m:t>
                        </m:r>
                      </m:num>
                      <m:den>
                        <m:r>
                          <m:rPr>
                            <m:sty m:val="p"/>
                          </m:rPr>
                          <a:rPr lang="en-GB" b="0" i="0" smtClean="0">
                            <a:latin typeface="Cambria Math" panose="02040503050406030204" pitchFamily="18" charset="0"/>
                          </a:rPr>
                          <m:t>sin</m:t>
                        </m:r>
                        <m:r>
                          <a:rPr lang="en-GB" b="0" i="1" smtClean="0">
                            <a:latin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𝜋</m:t>
                        </m:r>
                        <m:r>
                          <a:rPr lang="en-GB" b="0" i="1" smtClean="0">
                            <a:latin typeface="Cambria Math" panose="02040503050406030204" pitchFamily="18" charset="0"/>
                            <a:ea typeface="Cambria Math" panose="02040503050406030204" pitchFamily="18" charset="0"/>
                          </a:rPr>
                          <m:t>𝑓𝑇</m:t>
                        </m:r>
                        <m:r>
                          <a:rPr lang="en-GB" b="0" i="1" smtClean="0">
                            <a:latin typeface="Cambria Math" panose="02040503050406030204" pitchFamily="18" charset="0"/>
                            <a:ea typeface="Cambria Math" panose="02040503050406030204" pitchFamily="18" charset="0"/>
                          </a:rPr>
                          <m:t>)</m:t>
                        </m:r>
                      </m:den>
                    </m:f>
                  </m:oMath>
                </a14:m>
                <a:r>
                  <a:rPr lang="en-GB" dirty="0"/>
                  <a:t>												(11)</a:t>
                </a:r>
              </a:p>
              <a:p>
                <a:pPr marL="36900" indent="0">
                  <a:buNone/>
                </a:pPr>
                <a:r>
                  <a:rPr lang="en-GB" dirty="0"/>
                  <a:t>The amount of equalization needed in practice n usually small. Indeed for a duty cycle ,</a:t>
                </a:r>
              </a:p>
              <a:p>
                <a:pPr marL="36900" indent="0">
                  <a:buNone/>
                </a:pPr>
                <a:r>
                  <a:rPr lang="en-GB" dirty="0"/>
                  <a:t>The amplitude distortion is less than  percent, in which case the need for equalization maybe omitted together.</a:t>
                </a:r>
                <a:endParaRPr lang="en-IN" dirty="0"/>
              </a:p>
            </p:txBody>
          </p:sp>
        </mc:Choice>
        <mc:Fallback>
          <p:sp>
            <p:nvSpPr>
              <p:cNvPr id="3" name="Content Placeholder 2">
                <a:extLst>
                  <a:ext uri="{FF2B5EF4-FFF2-40B4-BE49-F238E27FC236}">
                    <a16:creationId xmlns:a16="http://schemas.microsoft.com/office/drawing/2014/main" id="{A3969036-9900-4879-B920-8355648C88F4}"/>
                  </a:ext>
                </a:extLst>
              </p:cNvPr>
              <p:cNvSpPr>
                <a:spLocks noGrp="1" noRot="1" noChangeAspect="1" noMove="1" noResize="1" noEditPoints="1" noAdjustHandles="1" noChangeArrowheads="1" noChangeShapeType="1" noTextEdit="1"/>
              </p:cNvSpPr>
              <p:nvPr>
                <p:ph idx="1"/>
              </p:nvPr>
            </p:nvSpPr>
            <p:spPr>
              <a:xfrm>
                <a:off x="919119" y="755822"/>
                <a:ext cx="10353762" cy="5346356"/>
              </a:xfrm>
              <a:blipFill>
                <a:blip r:embed="rId2"/>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38066451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3E086F-C0EE-4370-9BBE-586C0EF723A8}"/>
              </a:ext>
            </a:extLst>
          </p:cNvPr>
          <p:cNvSpPr>
            <a:spLocks noGrp="1"/>
          </p:cNvSpPr>
          <p:nvPr>
            <p:ph idx="1"/>
          </p:nvPr>
        </p:nvSpPr>
        <p:spPr>
          <a:xfrm>
            <a:off x="919119" y="1427205"/>
            <a:ext cx="10353762" cy="4003589"/>
          </a:xfrm>
        </p:spPr>
        <p:txBody>
          <a:bodyPr/>
          <a:lstStyle/>
          <a:p>
            <a:pPr marL="36900" indent="0">
              <a:buNone/>
            </a:pPr>
            <a:r>
              <a:rPr lang="en-GB" dirty="0"/>
              <a:t>The transmission of PAM signal imposes rather stringent requirements on the magnitude and phase responses of the channel, because of the relatively short duration of the transmitted pulses. Furthermore, the noise performance of a PAM system can never be better than baseband-signal transmission. Accordingly, we find that the transmission over long distances, PAM would be used only as a means of message processing for time-division multiplexing, from which conversion to some other form of pulse modulation is subsequently made.</a:t>
            </a:r>
            <a:endParaRPr lang="en-IN" dirty="0"/>
          </a:p>
        </p:txBody>
      </p:sp>
    </p:spTree>
    <p:extLst>
      <p:ext uri="{BB962C8B-B14F-4D97-AF65-F5344CB8AC3E}">
        <p14:creationId xmlns:p14="http://schemas.microsoft.com/office/powerpoint/2010/main" val="41938070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92883C8-7790-4BED-AC8F-9E271EAC438E}"/>
              </a:ext>
            </a:extLst>
          </p:cNvPr>
          <p:cNvSpPr>
            <a:spLocks noGrp="1"/>
          </p:cNvSpPr>
          <p:nvPr>
            <p:ph idx="1"/>
          </p:nvPr>
        </p:nvSpPr>
        <p:spPr/>
        <p:txBody>
          <a:bodyPr/>
          <a:lstStyle/>
          <a:p>
            <a:pPr marL="36900" indent="0">
              <a:buNone/>
            </a:pPr>
            <a:r>
              <a:rPr lang="en-GB" dirty="0"/>
              <a:t>Sources:</a:t>
            </a:r>
          </a:p>
          <a:p>
            <a:pPr>
              <a:buFont typeface="Wingdings" panose="05000000000000000000" pitchFamily="2" charset="2"/>
              <a:buChar char="q"/>
            </a:pPr>
            <a:r>
              <a:rPr lang="en-GB" dirty="0"/>
              <a:t>Simon </a:t>
            </a:r>
            <a:r>
              <a:rPr lang="en-GB" dirty="0" err="1"/>
              <a:t>Haykin</a:t>
            </a:r>
            <a:r>
              <a:rPr lang="en-GB" dirty="0"/>
              <a:t>, Communication Systems, Wiley, 2001 </a:t>
            </a:r>
          </a:p>
          <a:p>
            <a:pPr>
              <a:buFont typeface="Wingdings" panose="05000000000000000000" pitchFamily="2" charset="2"/>
              <a:buChar char="q"/>
            </a:pPr>
            <a:r>
              <a:rPr lang="en-GB" dirty="0"/>
              <a:t>Google</a:t>
            </a:r>
          </a:p>
          <a:p>
            <a:pPr>
              <a:buFont typeface="Wingdings" panose="05000000000000000000" pitchFamily="2" charset="2"/>
              <a:buChar char="q"/>
            </a:pPr>
            <a:r>
              <a:rPr lang="en-GB" dirty="0"/>
              <a:t>Wikipedia</a:t>
            </a:r>
          </a:p>
          <a:p>
            <a:pPr>
              <a:buFont typeface="Wingdings" panose="05000000000000000000" pitchFamily="2" charset="2"/>
              <a:buChar char="q"/>
            </a:pPr>
            <a:r>
              <a:rPr lang="en-GB" dirty="0" err="1"/>
              <a:t>Youtube</a:t>
            </a:r>
            <a:endParaRPr lang="en-GB" dirty="0"/>
          </a:p>
        </p:txBody>
      </p:sp>
    </p:spTree>
    <p:extLst>
      <p:ext uri="{BB962C8B-B14F-4D97-AF65-F5344CB8AC3E}">
        <p14:creationId xmlns:p14="http://schemas.microsoft.com/office/powerpoint/2010/main" val="41600267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31DF292-CC8F-435A-A050-D580ABE362FE}"/>
              </a:ext>
            </a:extLst>
          </p:cNvPr>
          <p:cNvSpPr>
            <a:spLocks noGrp="1"/>
          </p:cNvSpPr>
          <p:nvPr>
            <p:ph type="title"/>
          </p:nvPr>
        </p:nvSpPr>
        <p:spPr>
          <a:xfrm>
            <a:off x="802584" y="2067697"/>
            <a:ext cx="10353762" cy="1257300"/>
          </a:xfrm>
        </p:spPr>
        <p:txBody>
          <a:bodyPr/>
          <a:lstStyle/>
          <a:p>
            <a:r>
              <a:rPr lang="en-GB" dirty="0"/>
              <a:t>Thank you…</a:t>
            </a:r>
            <a:endParaRPr lang="en-IN" dirty="0"/>
          </a:p>
        </p:txBody>
      </p:sp>
    </p:spTree>
    <p:extLst>
      <p:ext uri="{BB962C8B-B14F-4D97-AF65-F5344CB8AC3E}">
        <p14:creationId xmlns:p14="http://schemas.microsoft.com/office/powerpoint/2010/main" val="123580616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VTI">
  <a:themeElements>
    <a:clrScheme name="Custom 35">
      <a:dk1>
        <a:sysClr val="windowText" lastClr="000000"/>
      </a:dk1>
      <a:lt1>
        <a:sysClr val="window" lastClr="FFFFFF"/>
      </a:lt1>
      <a:dk2>
        <a:srgbClr val="4E3B30"/>
      </a:dk2>
      <a:lt2>
        <a:srgbClr val="F4EDD8"/>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Custom 4">
      <a:majorFont>
        <a:latin typeface="Goudy Old Style"/>
        <a:ea typeface=""/>
        <a:cs typeface=""/>
      </a:majorFont>
      <a:minorFont>
        <a:latin typeface="Goudy Old Style"/>
        <a:ea typeface=""/>
        <a:cs typeface=""/>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VTI" id="{35C4A07C-0176-4A32-9BCB-B016516853F0}" vid="{9B70D35C-BCA8-4715-BB49-8BE54A7FC0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themeOverride>
</file>

<file path=ppt/theme/themeOverride2.xml><?xml version="1.0" encoding="utf-8"?>
<a:themeOverride xmlns:a="http://schemas.openxmlformats.org/drawingml/2006/main">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63D38F1F-4760-49B9-B932-28FBC1D6D945}">
  <ds:schemaRefs>
    <ds:schemaRef ds:uri="http://schemas.microsoft.com/sharepoint/v3/contenttype/forms"/>
  </ds:schemaRefs>
</ds:datastoreItem>
</file>

<file path=customXml/itemProps2.xml><?xml version="1.0" encoding="utf-8"?>
<ds:datastoreItem xmlns:ds="http://schemas.openxmlformats.org/officeDocument/2006/customXml" ds:itemID="{2A87E85C-0CEC-459D-BBD7-FA4EF075C72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94D590D-28CA-4FA8-91F0-B6B7E0C703A4}">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{65A81CE5-1790-4A2C-99A5-8F663B396EB7}tf55705232_wac</Template>
  <TotalTime>0</TotalTime>
  <Words>1361</Words>
  <Application>Microsoft Office PowerPoint</Application>
  <PresentationFormat>Widescreen</PresentationFormat>
  <Paragraphs>57</Paragraphs>
  <Slides>16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Calibri</vt:lpstr>
      <vt:lpstr>Cambria Math</vt:lpstr>
      <vt:lpstr>Goudy Old Style</vt:lpstr>
      <vt:lpstr>Wingdings</vt:lpstr>
      <vt:lpstr>Wingdings 2</vt:lpstr>
      <vt:lpstr>SlateVTI</vt:lpstr>
      <vt:lpstr>Mathematical Analysis of PAM signals.</vt:lpstr>
      <vt:lpstr>Introduction… </vt:lpstr>
      <vt:lpstr>PULSE AMPLITUDE MODULATION (PAM)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Figure. System for recovering message signal m(t) from PAM signal s(t)</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2020-07-11T13:01:59Z</dcterms:created>
  <dcterms:modified xsi:type="dcterms:W3CDTF">2020-07-12T06:58:13Z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